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64" r:id="rId2"/>
    <p:sldId id="272" r:id="rId3"/>
    <p:sldId id="273" r:id="rId4"/>
    <p:sldId id="278" r:id="rId5"/>
    <p:sldId id="280" r:id="rId6"/>
    <p:sldId id="422" r:id="rId7"/>
    <p:sldId id="281" r:id="rId8"/>
    <p:sldId id="424" r:id="rId9"/>
    <p:sldId id="423" r:id="rId10"/>
    <p:sldId id="425" r:id="rId11"/>
    <p:sldId id="426" r:id="rId12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34" r:id="rId20"/>
    <p:sldId id="435" r:id="rId21"/>
    <p:sldId id="436" r:id="rId22"/>
    <p:sldId id="437" r:id="rId23"/>
    <p:sldId id="438" r:id="rId24"/>
    <p:sldId id="439" r:id="rId25"/>
    <p:sldId id="440" r:id="rId26"/>
    <p:sldId id="445" r:id="rId27"/>
    <p:sldId id="446" r:id="rId28"/>
    <p:sldId id="447" r:id="rId29"/>
    <p:sldId id="444" r:id="rId30"/>
    <p:sldId id="448" r:id="rId31"/>
    <p:sldId id="449" r:id="rId32"/>
    <p:sldId id="441" r:id="rId33"/>
    <p:sldId id="442" r:id="rId34"/>
    <p:sldId id="443" r:id="rId35"/>
    <p:sldId id="450" r:id="rId36"/>
    <p:sldId id="451" r:id="rId37"/>
    <p:sldId id="452" r:id="rId38"/>
    <p:sldId id="453" r:id="rId39"/>
    <p:sldId id="454" r:id="rId40"/>
    <p:sldId id="455" r:id="rId41"/>
    <p:sldId id="456" r:id="rId42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219"/>
    <a:srgbClr val="728FA5"/>
    <a:srgbClr val="FFFC57"/>
    <a:srgbClr val="005DA6"/>
    <a:srgbClr val="00A5E2"/>
    <a:srgbClr val="1523BE"/>
    <a:srgbClr val="999999"/>
    <a:srgbClr val="573600"/>
    <a:srgbClr val="A05A2B"/>
    <a:srgbClr val="B91B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7335" autoAdjust="0"/>
  </p:normalViewPr>
  <p:slideViewPr>
    <p:cSldViewPr snapToGrid="0" snapToObjects="1">
      <p:cViewPr varScale="1">
        <p:scale>
          <a:sx n="120" d="100"/>
          <a:sy n="120" d="100"/>
        </p:scale>
        <p:origin x="584" y="176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D687A-215B-4053-8D9D-C306C2FF0CF9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F2FE9-4A00-41A8-A3A6-2697E51A53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97852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8FBBA-AFE0-9B40-8C05-30E505962C4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21317-B563-6740-873F-8C41054D00C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6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Inizio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21317-B563-6740-873F-8C41054D00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55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Segnaposto note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/>
          </a:p>
        </p:txBody>
      </p:sp>
      <p:sp>
        <p:nvSpPr>
          <p:cNvPr id="111620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C71B7F-944E-4801-AD44-93AC8BFAC233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8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2"/>
          <p:cNvPicPr>
            <a:picLocks noChangeAspect="1" noChangeArrowheads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34" b="68966"/>
          <a:stretch/>
        </p:blipFill>
        <p:spPr bwMode="auto">
          <a:xfrm>
            <a:off x="0" y="0"/>
            <a:ext cx="913087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0" y="0"/>
            <a:ext cx="317500" cy="1066800"/>
          </a:xfrm>
          <a:prstGeom prst="rect">
            <a:avLst/>
          </a:prstGeom>
          <a:solidFill>
            <a:srgbClr val="99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 userDrawn="1"/>
        </p:nvSpPr>
        <p:spPr>
          <a:xfrm flipV="1">
            <a:off x="0" y="5930897"/>
            <a:ext cx="9144000" cy="927101"/>
          </a:xfrm>
          <a:prstGeom prst="rect">
            <a:avLst/>
          </a:prstGeom>
          <a:solidFill>
            <a:srgbClr val="99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054100" y="2165349"/>
            <a:ext cx="6806778" cy="914400"/>
          </a:xfr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 lang="it-IT" sz="3600" b="1" dirty="0" smtClean="0">
                <a:solidFill>
                  <a:srgbClr val="991219"/>
                </a:solidFill>
                <a:ea typeface="+mj-ea"/>
              </a:defRPr>
            </a:lvl1pPr>
          </a:lstStyle>
          <a:p>
            <a:pPr lvl="0">
              <a:spcBef>
                <a:spcPct val="0"/>
              </a:spcBef>
            </a:pPr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054100" y="3079749"/>
            <a:ext cx="6806778" cy="914400"/>
          </a:xfr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 lang="it-IT" sz="2800" b="1" dirty="0" smtClean="0">
                <a:solidFill>
                  <a:srgbClr val="728FA5"/>
                </a:solidFill>
                <a:ea typeface="+mj-ea"/>
              </a:defRPr>
            </a:lvl1pPr>
          </a:lstStyle>
          <a:p>
            <a:pPr lvl="0">
              <a:spcBef>
                <a:spcPct val="0"/>
              </a:spcBef>
            </a:pPr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5931862"/>
            <a:ext cx="321972" cy="920839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653485" y="6192226"/>
            <a:ext cx="1454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NTMA LAB</a:t>
            </a:r>
          </a:p>
        </p:txBody>
      </p:sp>
    </p:spTree>
    <p:extLst>
      <p:ext uri="{BB962C8B-B14F-4D97-AF65-F5344CB8AC3E}">
        <p14:creationId xmlns:p14="http://schemas.microsoft.com/office/powerpoint/2010/main" val="51481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34" b="68966"/>
          <a:stretch/>
        </p:blipFill>
        <p:spPr bwMode="auto">
          <a:xfrm>
            <a:off x="0" y="0"/>
            <a:ext cx="913087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0"/>
            <a:ext cx="317500" cy="1066800"/>
          </a:xfrm>
          <a:prstGeom prst="rect">
            <a:avLst/>
          </a:prstGeom>
          <a:solidFill>
            <a:srgbClr val="99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40017" y="2130866"/>
            <a:ext cx="8581043" cy="840400"/>
          </a:xfrm>
        </p:spPr>
        <p:txBody>
          <a:bodyPr>
            <a:normAutofit/>
          </a:bodyPr>
          <a:lstStyle>
            <a:lvl1pPr>
              <a:defRPr sz="3600">
                <a:solidFill>
                  <a:srgbClr val="991219"/>
                </a:solidFill>
              </a:defRPr>
            </a:lvl1pPr>
          </a:lstStyle>
          <a:p>
            <a:r>
              <a:rPr lang="it-IT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10" name="Title 8"/>
          <p:cNvSpPr txBox="1">
            <a:spLocks/>
          </p:cNvSpPr>
          <p:nvPr userDrawn="1"/>
        </p:nvSpPr>
        <p:spPr>
          <a:xfrm>
            <a:off x="440017" y="29712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lvl="0" indent="0">
              <a:spcBef>
                <a:spcPct val="0"/>
              </a:spcBef>
              <a:buFont typeface="Wingdings" charset="2"/>
              <a:buNone/>
              <a:defRPr sz="2800" b="1">
                <a:solidFill>
                  <a:srgbClr val="728FA5"/>
                </a:solidFill>
                <a:latin typeface="Arial"/>
                <a:ea typeface="+mj-ea"/>
                <a:cs typeface="Arial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200">
                <a:latin typeface="Arial"/>
                <a:cs typeface="Arial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200">
                <a:latin typeface="Arial"/>
                <a:cs typeface="Arial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200">
                <a:latin typeface="Arial"/>
                <a:cs typeface="Arial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200">
                <a:latin typeface="Arial"/>
                <a:cs typeface="Arial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518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288521" y="1012292"/>
            <a:ext cx="8581043" cy="5113872"/>
          </a:xfrm>
        </p:spPr>
        <p:txBody>
          <a:bodyPr>
            <a:normAutofit/>
          </a:bodyPr>
          <a:lstStyle>
            <a:lvl1pPr marL="342900" indent="-342900">
              <a:buFont typeface="Arial" charset="0"/>
              <a:buChar char="•"/>
              <a:defRPr sz="2400" b="1"/>
            </a:lvl1pPr>
            <a:lvl2pPr marL="715963" indent="-352425">
              <a:tabLst/>
              <a:defRPr sz="2400"/>
            </a:lvl2pPr>
            <a:lvl3pPr marL="1089025" indent="-285750">
              <a:buFont typeface="Courier New" charset="0"/>
              <a:buChar char="o"/>
              <a:tabLst/>
              <a:defRPr sz="20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229350"/>
            <a:ext cx="9144000" cy="6381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051" name="Picture 3" descr="Y:\IMMAGINE _COORDINATA_2014\PPT\loghi_PNG\03_Polimi_bandiera-1riga_BN_negativo_outline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0999" y="6262075"/>
            <a:ext cx="3038475" cy="57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Picture 3" descr="Y:\IMMAGINE _COORDINATA_2014\PPT\loghi_PNG\03_Polimi_bandiera-1riga_BN_negativo_outline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0998" y="6262075"/>
            <a:ext cx="3038475" cy="57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 flipH="1">
            <a:off x="0" y="6229350"/>
            <a:ext cx="127000" cy="638174"/>
          </a:xfrm>
          <a:prstGeom prst="rect">
            <a:avLst/>
          </a:prstGeom>
          <a:solidFill>
            <a:srgbClr val="99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rgbClr val="991219"/>
                </a:solidFill>
              </a:defRPr>
            </a:lvl1pPr>
          </a:lstStyle>
          <a:p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13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221864" y="6381672"/>
            <a:ext cx="6477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7834947A-1B05-2B43-AD85-E646CE852B9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4070349" y="6381672"/>
            <a:ext cx="4151513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Network </a:t>
            </a:r>
            <a:r>
              <a:rPr lang="it-IT" dirty="0" err="1"/>
              <a:t>Measurement</a:t>
            </a:r>
            <a:r>
              <a:rPr lang="it-IT" dirty="0"/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142407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858048480"/>
      </p:ext>
    </p:extLst>
  </p:cSld>
  <p:clrMapOvr>
    <a:masterClrMapping/>
  </p:clrMapOvr>
  <p:transition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29475" y="6381750"/>
            <a:ext cx="1914525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56E8F-1B65-4192-BE32-1BC8A348A03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7759657"/>
      </p:ext>
    </p:extLst>
  </p:cSld>
  <p:clrMapOvr>
    <a:masterClrMapping/>
  </p:clrMapOvr>
  <p:transition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29475" y="6381750"/>
            <a:ext cx="1914525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5B36B-BE9C-4453-B5D8-1F78F7BA0AA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3961664"/>
      </p:ext>
    </p:extLst>
  </p:cSld>
  <p:clrMapOvr>
    <a:masterClrMapping/>
  </p:clrMapOvr>
  <p:transition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08000" y="133852"/>
            <a:ext cx="8128000" cy="105727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575734" y="1335505"/>
            <a:ext cx="3928533" cy="4908884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39734" y="1335505"/>
            <a:ext cx="3928533" cy="4908884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80126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4213" y="3284538"/>
            <a:ext cx="7772400" cy="109537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 sz="2400">
              <a:latin typeface="Times New Roman" pitchFamily="18" charset="0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 userDrawn="1"/>
        </p:nvSpPr>
        <p:spPr bwMode="auto">
          <a:xfrm>
            <a:off x="1763713" y="355600"/>
            <a:ext cx="6307137" cy="1006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3200" b="1" i="1"/>
              <a:t>Politecnico di Milano</a:t>
            </a:r>
          </a:p>
          <a:p>
            <a:pPr>
              <a:defRPr/>
            </a:pPr>
            <a:r>
              <a:rPr lang="it-IT" sz="2800" i="1"/>
              <a:t>Facoltà di Ingegneria dell’Informazione</a:t>
            </a:r>
          </a:p>
        </p:txBody>
      </p:sp>
      <p:pic>
        <p:nvPicPr>
          <p:cNvPr id="6" name="Picture 10" descr="POLI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115888"/>
            <a:ext cx="1512887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2060575"/>
            <a:ext cx="7772400" cy="1155700"/>
          </a:xfrm>
        </p:spPr>
        <p:txBody>
          <a:bodyPr/>
          <a:lstStyle>
            <a:lvl1pPr>
              <a:defRPr sz="34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it-IT"/>
              <a:t>FIR: 1 - Introduzione e architetture</a:t>
            </a:r>
          </a:p>
        </p:txBody>
      </p:sp>
    </p:spTree>
    <p:extLst>
      <p:ext uri="{BB962C8B-B14F-4D97-AF65-F5344CB8AC3E}">
        <p14:creationId xmlns:p14="http://schemas.microsoft.com/office/powerpoint/2010/main" val="2040142848"/>
      </p:ext>
    </p:extLst>
  </p:cSld>
  <p:clrMapOvr>
    <a:masterClrMapping/>
  </p:clrMapOvr>
  <p:transition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4300" cy="4678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678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29475" y="6381750"/>
            <a:ext cx="1914525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672C5-309D-4818-9E14-96D1E6B42EC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9038473"/>
      </p:ext>
    </p:extLst>
  </p:cSld>
  <p:clrMapOvr>
    <a:masterClrMapping/>
  </p:clrMapOvr>
  <p:transition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1116013" y="71438"/>
            <a:ext cx="6877050" cy="98107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566738" y="1341438"/>
            <a:ext cx="3924300" cy="226218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3438" y="1341438"/>
            <a:ext cx="3924300" cy="226218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566738" y="3756025"/>
            <a:ext cx="3924300" cy="22637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3438" y="3756025"/>
            <a:ext cx="3924300" cy="22637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29475" y="6381750"/>
            <a:ext cx="1914525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A08E16-3A6E-49F2-BDBC-17895493C73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752926"/>
      </p:ext>
    </p:extLst>
  </p:cSld>
  <p:clrMapOvr>
    <a:masterClrMapping/>
  </p:clrMapOvr>
  <p:transition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olo, tes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16013" y="71438"/>
            <a:ext cx="6877050" cy="98107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566738" y="1341438"/>
            <a:ext cx="3924300" cy="46783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3438" y="1341438"/>
            <a:ext cx="3924300" cy="226218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643438" y="3756025"/>
            <a:ext cx="3924300" cy="22637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29475" y="6381750"/>
            <a:ext cx="1914525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6848C-855F-44A8-AC72-4956BB59517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897917"/>
      </p:ext>
    </p:extLst>
  </p:cSld>
  <p:clrMapOvr>
    <a:masterClrMapping/>
  </p:clrMapOvr>
  <p:transition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olo e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16013" y="71438"/>
            <a:ext cx="6877050" cy="98107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grafico 2"/>
          <p:cNvSpPr>
            <a:spLocks noGrp="1"/>
          </p:cNvSpPr>
          <p:nvPr>
            <p:ph type="chart" idx="1"/>
          </p:nvPr>
        </p:nvSpPr>
        <p:spPr>
          <a:xfrm>
            <a:off x="566738" y="1341438"/>
            <a:ext cx="8001000" cy="4678362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29475" y="6381750"/>
            <a:ext cx="1914525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F6793-8AD1-4882-A671-9A2B8417B52E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784036"/>
      </p:ext>
    </p:extLst>
  </p:cSld>
  <p:clrMapOvr>
    <a:masterClrMapping/>
  </p:clrMapOvr>
  <p:transition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FIR: 1 - Introduzione e architetture</a:t>
            </a:r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hdr="0" dt="0"/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rgbClr val="003399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bian.org/mirror/list" TargetMode="External"/><Relationship Id="rId2" Type="http://schemas.openxmlformats.org/officeDocument/2006/relationships/hyperlink" Target="https://www.gnu.org/prep/ftp.html" TargetMode="Externa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54100" y="2844800"/>
            <a:ext cx="6806778" cy="1149349"/>
          </a:xfrm>
        </p:spPr>
        <p:txBody>
          <a:bodyPr>
            <a:normAutofit lnSpcReduction="10000"/>
          </a:bodyPr>
          <a:lstStyle/>
          <a:p>
            <a:r>
              <a:rPr lang="it-IT" noProof="0" dirty="0"/>
              <a:t>Network </a:t>
            </a:r>
            <a:r>
              <a:rPr lang="it-IT" dirty="0"/>
              <a:t>M</a:t>
            </a:r>
            <a:r>
              <a:rPr lang="it-IT" noProof="0" dirty="0" err="1"/>
              <a:t>easurement</a:t>
            </a:r>
            <a:r>
              <a:rPr lang="it-IT" noProof="0" dirty="0"/>
              <a:t> and Data </a:t>
            </a:r>
            <a:r>
              <a:rPr lang="it-IT" dirty="0"/>
              <a:t>A</a:t>
            </a:r>
            <a:r>
              <a:rPr lang="it-IT" noProof="0" dirty="0" err="1"/>
              <a:t>nalysis</a:t>
            </a:r>
            <a:r>
              <a:rPr lang="it-IT" noProof="0" dirty="0"/>
              <a:t> Lab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054100" y="3994149"/>
            <a:ext cx="6806778" cy="914400"/>
          </a:xfrm>
        </p:spPr>
        <p:txBody>
          <a:bodyPr>
            <a:normAutofit/>
          </a:bodyPr>
          <a:lstStyle/>
          <a:p>
            <a:r>
              <a:rPr lang="it-IT" sz="2400" noProof="0" dirty="0"/>
              <a:t>Alessandro </a:t>
            </a:r>
            <a:r>
              <a:rPr lang="it-IT" sz="2400" noProof="0" dirty="0" err="1"/>
              <a:t>Redondi</a:t>
            </a:r>
            <a:r>
              <a:rPr lang="it-IT" sz="2400" noProof="0" dirty="0"/>
              <a:t>, Francesco Musumeci</a:t>
            </a:r>
          </a:p>
        </p:txBody>
      </p:sp>
    </p:spTree>
    <p:extLst>
      <p:ext uri="{BB962C8B-B14F-4D97-AF65-F5344CB8AC3E}">
        <p14:creationId xmlns:p14="http://schemas.microsoft.com/office/powerpoint/2010/main" val="135528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54100" y="2844800"/>
            <a:ext cx="6806778" cy="1149349"/>
          </a:xfrm>
        </p:spPr>
        <p:txBody>
          <a:bodyPr>
            <a:normAutofit/>
          </a:bodyPr>
          <a:lstStyle/>
          <a:p>
            <a:r>
              <a:rPr lang="it-IT" noProof="0" dirty="0"/>
              <a:t>Network </a:t>
            </a:r>
            <a:r>
              <a:rPr lang="it-IT" noProof="0" dirty="0" err="1"/>
              <a:t>Measurement</a:t>
            </a:r>
            <a:r>
              <a:rPr lang="it-IT" noProof="0" dirty="0"/>
              <a:t> Lab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54100" y="3437558"/>
            <a:ext cx="6806778" cy="9144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1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it-IT" noProof="0" dirty="0"/>
              <a:t>Course </a:t>
            </a:r>
            <a:r>
              <a:rPr lang="it-IT" noProof="0" dirty="0" err="1"/>
              <a:t>Introduction</a:t>
            </a:r>
            <a:endParaRPr lang="it-IT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5118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noProof="0" dirty="0"/>
              <a:t>Prof. Alessandro E. C. </a:t>
            </a:r>
            <a:r>
              <a:rPr lang="it-IT" noProof="0" dirty="0" err="1"/>
              <a:t>Redondi</a:t>
            </a:r>
            <a:endParaRPr lang="it-IT" noProof="0" dirty="0"/>
          </a:p>
          <a:p>
            <a:pPr eaLnBrk="1" hangingPunct="1"/>
            <a:r>
              <a:rPr lang="it-IT" noProof="0" dirty="0"/>
              <a:t>Office:</a:t>
            </a:r>
          </a:p>
          <a:p>
            <a:pPr lvl="1" eaLnBrk="1" hangingPunct="1"/>
            <a:r>
              <a:rPr lang="it-IT" noProof="0" dirty="0" err="1"/>
              <a:t>Currently</a:t>
            </a:r>
            <a:r>
              <a:rPr lang="it-IT" noProof="0" dirty="0"/>
              <a:t> </a:t>
            </a:r>
            <a:r>
              <a:rPr lang="it-IT" noProof="0" dirty="0" err="1"/>
              <a:t>without</a:t>
            </a:r>
            <a:endParaRPr lang="it-IT" noProof="0" dirty="0"/>
          </a:p>
          <a:p>
            <a:pPr eaLnBrk="1" hangingPunct="1"/>
            <a:r>
              <a:rPr lang="it-IT" noProof="0" dirty="0"/>
              <a:t>E-mail: </a:t>
            </a:r>
            <a:r>
              <a:rPr lang="it-IT" noProof="0" dirty="0" err="1"/>
              <a:t>alessandroenrico.redondi@polimi.it</a:t>
            </a:r>
            <a:endParaRPr lang="it-IT" noProof="0" dirty="0"/>
          </a:p>
          <a:p>
            <a:pPr eaLnBrk="1" hangingPunct="1"/>
            <a:r>
              <a:rPr lang="it-IT" dirty="0"/>
              <a:t>Office hours</a:t>
            </a:r>
            <a:r>
              <a:rPr lang="it-IT" noProof="0" dirty="0"/>
              <a:t>:</a:t>
            </a:r>
          </a:p>
          <a:p>
            <a:pPr lvl="1" eaLnBrk="1" hangingPunct="1"/>
            <a:r>
              <a:rPr lang="it-IT" dirty="0" err="1"/>
              <a:t>Send</a:t>
            </a:r>
            <a:r>
              <a:rPr lang="it-IT" dirty="0"/>
              <a:t> me an email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noProof="0" dirty="0" err="1"/>
              <a:t>Teacher</a:t>
            </a:r>
            <a:endParaRPr lang="it-IT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Measurement</a:t>
            </a:r>
            <a:r>
              <a:rPr lang="it-IT" dirty="0"/>
              <a:t> Lab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4</a:t>
            </a:fld>
            <a:endParaRPr lang="it-IT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4364" y="1184695"/>
            <a:ext cx="1067379" cy="133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1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8521" y="1012292"/>
            <a:ext cx="8944931" cy="5113872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modules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Network </a:t>
            </a:r>
            <a:r>
              <a:rPr lang="it-IT" dirty="0" err="1"/>
              <a:t>measurement</a:t>
            </a:r>
            <a:r>
              <a:rPr lang="it-IT" dirty="0"/>
              <a:t> lab (with me) – 2CFU: </a:t>
            </a:r>
            <a:r>
              <a:rPr lang="it-IT" dirty="0" err="1"/>
              <a:t>how</a:t>
            </a:r>
            <a:r>
              <a:rPr lang="it-IT" dirty="0"/>
              <a:t> to </a:t>
            </a:r>
            <a:r>
              <a:rPr lang="it-IT" dirty="0" err="1"/>
              <a:t>get</a:t>
            </a:r>
            <a:r>
              <a:rPr lang="it-IT" dirty="0"/>
              <a:t> network data</a:t>
            </a:r>
          </a:p>
          <a:p>
            <a:pPr lvl="1"/>
            <a:r>
              <a:rPr lang="it-IT" dirty="0"/>
              <a:t>Network data </a:t>
            </a:r>
            <a:r>
              <a:rPr lang="it-IT" dirty="0" err="1"/>
              <a:t>analysis</a:t>
            </a:r>
            <a:r>
              <a:rPr lang="it-IT" dirty="0"/>
              <a:t> lab (with prof. Musumeci) – 3CFU: </a:t>
            </a:r>
            <a:r>
              <a:rPr lang="it-IT" dirty="0" err="1"/>
              <a:t>how</a:t>
            </a:r>
            <a:r>
              <a:rPr lang="it-IT" dirty="0"/>
              <a:t> to </a:t>
            </a:r>
            <a:r>
              <a:rPr lang="it-IT" dirty="0" err="1"/>
              <a:t>analyse</a:t>
            </a:r>
            <a:r>
              <a:rPr lang="it-IT" dirty="0"/>
              <a:t> network data</a:t>
            </a:r>
          </a:p>
          <a:p>
            <a:endParaRPr lang="it-IT" dirty="0"/>
          </a:p>
          <a:p>
            <a:r>
              <a:rPr lang="it-IT" dirty="0"/>
              <a:t>Mix (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module</a:t>
            </a:r>
            <a:r>
              <a:rPr lang="it-IT" dirty="0"/>
              <a:t>):</a:t>
            </a:r>
          </a:p>
          <a:p>
            <a:pPr lvl="1"/>
            <a:r>
              <a:rPr lang="it-IT" dirty="0"/>
              <a:t>5 </a:t>
            </a:r>
            <a:r>
              <a:rPr lang="it-IT" dirty="0" err="1"/>
              <a:t>lectures</a:t>
            </a:r>
            <a:r>
              <a:rPr lang="it-IT" dirty="0"/>
              <a:t>, 4 hours </a:t>
            </a:r>
            <a:r>
              <a:rPr lang="it-IT" dirty="0" err="1"/>
              <a:t>each</a:t>
            </a:r>
            <a:endParaRPr lang="it-IT" dirty="0"/>
          </a:p>
          <a:p>
            <a:pPr lvl="1"/>
            <a:r>
              <a:rPr lang="it-IT" dirty="0" err="1"/>
              <a:t>Lecture</a:t>
            </a:r>
            <a:r>
              <a:rPr lang="it-IT" dirty="0"/>
              <a:t>: (</a:t>
            </a:r>
            <a:r>
              <a:rPr lang="it-IT" dirty="0" err="1"/>
              <a:t>about</a:t>
            </a:r>
            <a:r>
              <a:rPr lang="it-IT" dirty="0"/>
              <a:t>) 6 hours</a:t>
            </a:r>
          </a:p>
          <a:p>
            <a:pPr lvl="1"/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activities</a:t>
            </a:r>
            <a:r>
              <a:rPr lang="it-IT" dirty="0"/>
              <a:t>: (</a:t>
            </a:r>
            <a:r>
              <a:rPr lang="it-IT" dirty="0" err="1"/>
              <a:t>about</a:t>
            </a:r>
            <a:r>
              <a:rPr lang="it-IT" dirty="0"/>
              <a:t>) 14 hours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 err="1"/>
              <a:t>Practical</a:t>
            </a:r>
            <a:r>
              <a:rPr lang="it-IT" dirty="0"/>
              <a:t> activities to be </a:t>
            </a:r>
            <a:r>
              <a:rPr lang="it-IT" dirty="0" err="1"/>
              <a:t>performed</a:t>
            </a:r>
            <a:r>
              <a:rPr lang="it-IT" dirty="0"/>
              <a:t> on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student’s</a:t>
            </a:r>
            <a:r>
              <a:rPr lang="it-IT" dirty="0"/>
              <a:t> laptop (BYOD)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Course </a:t>
            </a:r>
            <a:r>
              <a:rPr lang="it-IT" dirty="0" err="1"/>
              <a:t>organization</a:t>
            </a:r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Measurement</a:t>
            </a:r>
            <a:r>
              <a:rPr lang="it-IT" dirty="0"/>
              <a:t> Lab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7881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8521" y="667063"/>
            <a:ext cx="8780528" cy="5523874"/>
          </a:xfrm>
        </p:spPr>
        <p:txBody>
          <a:bodyPr>
            <a:noAutofit/>
          </a:bodyPr>
          <a:lstStyle/>
          <a:p>
            <a:pPr>
              <a:spcBef>
                <a:spcPts val="1608"/>
              </a:spcBef>
            </a:pPr>
            <a:r>
              <a:rPr lang="it-IT" sz="2000" dirty="0"/>
              <a:t>Total of 32 points over the </a:t>
            </a:r>
            <a:r>
              <a:rPr lang="it-IT" sz="2000" dirty="0" err="1"/>
              <a:t>two</a:t>
            </a:r>
            <a:r>
              <a:rPr lang="it-IT" sz="2000" dirty="0"/>
              <a:t> </a:t>
            </a:r>
            <a:r>
              <a:rPr lang="it-IT" sz="2000" dirty="0" err="1"/>
              <a:t>modules</a:t>
            </a:r>
            <a:endParaRPr lang="it-IT" sz="2000" dirty="0"/>
          </a:p>
          <a:p>
            <a:pPr lvl="1">
              <a:spcBef>
                <a:spcPts val="1608"/>
              </a:spcBef>
            </a:pPr>
            <a:r>
              <a:rPr lang="it-IT" sz="2000" dirty="0"/>
              <a:t>Network </a:t>
            </a:r>
            <a:r>
              <a:rPr lang="it-IT" sz="2000" dirty="0" err="1"/>
              <a:t>measurement</a:t>
            </a:r>
            <a:r>
              <a:rPr lang="it-IT" sz="2000" dirty="0"/>
              <a:t> lab: </a:t>
            </a:r>
            <a:r>
              <a:rPr lang="it-IT" sz="2000" b="1" dirty="0"/>
              <a:t>13 points </a:t>
            </a:r>
            <a:r>
              <a:rPr lang="it-IT" sz="2000" dirty="0"/>
              <a:t>(</a:t>
            </a:r>
            <a:r>
              <a:rPr lang="it-IT" sz="2000" dirty="0" err="1"/>
              <a:t>homeworks</a:t>
            </a:r>
            <a:r>
              <a:rPr lang="it-IT" sz="2000" dirty="0"/>
              <a:t>)</a:t>
            </a:r>
          </a:p>
          <a:p>
            <a:pPr lvl="1">
              <a:spcBef>
                <a:spcPts val="1608"/>
              </a:spcBef>
            </a:pPr>
            <a:r>
              <a:rPr lang="it-IT" sz="2000" dirty="0"/>
              <a:t>Network data </a:t>
            </a:r>
            <a:r>
              <a:rPr lang="it-IT" sz="2000" dirty="0" err="1"/>
              <a:t>analysis</a:t>
            </a:r>
            <a:r>
              <a:rPr lang="it-IT" sz="2000" dirty="0"/>
              <a:t> lab: </a:t>
            </a:r>
            <a:r>
              <a:rPr lang="it-IT" sz="2000" b="1" dirty="0"/>
              <a:t>19 points </a:t>
            </a:r>
            <a:r>
              <a:rPr lang="it-IT" sz="2000" dirty="0"/>
              <a:t>(</a:t>
            </a:r>
            <a:r>
              <a:rPr lang="it-IT" sz="2000" dirty="0" err="1"/>
              <a:t>practical</a:t>
            </a:r>
            <a:r>
              <a:rPr lang="it-IT" sz="2000" dirty="0"/>
              <a:t> project with group </a:t>
            </a:r>
            <a:r>
              <a:rPr lang="it-IT" sz="2000" dirty="0" err="1"/>
              <a:t>oral</a:t>
            </a:r>
            <a:r>
              <a:rPr lang="it-IT" sz="2000" dirty="0"/>
              <a:t> </a:t>
            </a:r>
            <a:r>
              <a:rPr lang="it-IT" sz="2000" dirty="0" err="1"/>
              <a:t>discussion</a:t>
            </a:r>
            <a:r>
              <a:rPr lang="it-IT" sz="2000" dirty="0"/>
              <a:t>)</a:t>
            </a:r>
          </a:p>
          <a:p>
            <a:pPr lvl="1">
              <a:spcBef>
                <a:spcPts val="1608"/>
              </a:spcBef>
            </a:pPr>
            <a:r>
              <a:rPr lang="it-IT" sz="2000" dirty="0" err="1"/>
              <a:t>Final</a:t>
            </a:r>
            <a:r>
              <a:rPr lang="it-IT" sz="2000" dirty="0"/>
              <a:t> score: </a:t>
            </a:r>
            <a:r>
              <a:rPr lang="en-GB" sz="2000" dirty="0"/>
              <a:t>NM+NDA (only if NM≥7 &amp;&amp; NDA≥11). Laude if ≥ 31.</a:t>
            </a:r>
          </a:p>
          <a:p>
            <a:pPr lvl="1">
              <a:spcBef>
                <a:spcPts val="1608"/>
              </a:spcBef>
            </a:pPr>
            <a:endParaRPr lang="it-IT" sz="1600" dirty="0"/>
          </a:p>
          <a:p>
            <a:r>
              <a:rPr lang="it-IT" sz="2000" dirty="0" err="1"/>
              <a:t>Homeworks</a:t>
            </a:r>
            <a:endParaRPr lang="it-IT" sz="2000" dirty="0"/>
          </a:p>
          <a:p>
            <a:pPr lvl="1"/>
            <a:r>
              <a:rPr lang="it-IT" sz="2000" dirty="0"/>
              <a:t>Three </a:t>
            </a:r>
            <a:r>
              <a:rPr lang="it-IT" sz="2000" dirty="0" err="1"/>
              <a:t>homeworks</a:t>
            </a:r>
            <a:r>
              <a:rPr lang="it-IT" sz="2000" dirty="0"/>
              <a:t> </a:t>
            </a:r>
            <a:r>
              <a:rPr lang="it-IT" sz="2000" dirty="0" err="1"/>
              <a:t>will</a:t>
            </a:r>
            <a:r>
              <a:rPr lang="it-IT" sz="2000" dirty="0"/>
              <a:t> be </a:t>
            </a:r>
            <a:r>
              <a:rPr lang="it-IT" sz="2000" dirty="0" err="1"/>
              <a:t>assigned</a:t>
            </a:r>
            <a:r>
              <a:rPr lang="it-IT" sz="2000" dirty="0"/>
              <a:t>, </a:t>
            </a:r>
            <a:r>
              <a:rPr lang="it-IT" sz="2000" dirty="0" err="1"/>
              <a:t>regarding</a:t>
            </a:r>
            <a:r>
              <a:rPr lang="it-IT" sz="2000" dirty="0"/>
              <a:t> the </a:t>
            </a:r>
            <a:r>
              <a:rPr lang="it-IT" sz="2000" dirty="0" err="1"/>
              <a:t>activities</a:t>
            </a:r>
            <a:r>
              <a:rPr lang="it-IT" sz="2000" dirty="0"/>
              <a:t> </a:t>
            </a:r>
            <a:r>
              <a:rPr lang="it-IT" sz="2000" dirty="0" err="1"/>
              <a:t>performed</a:t>
            </a:r>
            <a:r>
              <a:rPr lang="it-IT" sz="2000" dirty="0"/>
              <a:t> in </a:t>
            </a:r>
            <a:r>
              <a:rPr lang="it-IT" sz="2000" dirty="0" err="1"/>
              <a:t>class</a:t>
            </a:r>
            <a:endParaRPr lang="it-IT" sz="2000" dirty="0"/>
          </a:p>
          <a:p>
            <a:pPr lvl="1"/>
            <a:r>
              <a:rPr lang="it-IT" sz="2000" dirty="0" err="1"/>
              <a:t>Each</a:t>
            </a:r>
            <a:r>
              <a:rPr lang="it-IT" sz="2000" dirty="0"/>
              <a:t> </a:t>
            </a:r>
            <a:r>
              <a:rPr lang="it-IT" sz="2000" dirty="0" err="1"/>
              <a:t>homework</a:t>
            </a:r>
            <a:r>
              <a:rPr lang="it-IT" sz="2000" dirty="0"/>
              <a:t> </a:t>
            </a:r>
            <a:r>
              <a:rPr lang="it-IT" sz="2000" dirty="0" err="1"/>
              <a:t>will</a:t>
            </a:r>
            <a:r>
              <a:rPr lang="it-IT" sz="2000" dirty="0"/>
              <a:t> </a:t>
            </a:r>
            <a:r>
              <a:rPr lang="it-IT" sz="2000" dirty="0" err="1"/>
              <a:t>have</a:t>
            </a:r>
            <a:r>
              <a:rPr lang="it-IT" sz="2000" dirty="0"/>
              <a:t> a </a:t>
            </a:r>
            <a:r>
              <a:rPr lang="it-IT" sz="2000" dirty="0" err="1"/>
              <a:t>deadline</a:t>
            </a:r>
            <a:r>
              <a:rPr lang="it-IT" sz="2000" dirty="0"/>
              <a:t> </a:t>
            </a:r>
            <a:r>
              <a:rPr lang="it-IT" sz="2000" b="1" dirty="0" err="1"/>
              <a:t>before</a:t>
            </a:r>
            <a:r>
              <a:rPr lang="it-IT" sz="2000" b="1" dirty="0"/>
              <a:t> </a:t>
            </a:r>
            <a:r>
              <a:rPr lang="it-IT" sz="2000" dirty="0"/>
              <a:t>the end of the </a:t>
            </a:r>
            <a:r>
              <a:rPr lang="it-IT" sz="2000" dirty="0" err="1"/>
              <a:t>course</a:t>
            </a:r>
            <a:endParaRPr lang="it-IT" sz="2000" dirty="0"/>
          </a:p>
          <a:p>
            <a:pPr lvl="1"/>
            <a:r>
              <a:rPr lang="it-IT" sz="2000" dirty="0" err="1"/>
              <a:t>Homeworks</a:t>
            </a:r>
            <a:r>
              <a:rPr lang="it-IT" sz="2000" dirty="0"/>
              <a:t> are </a:t>
            </a:r>
            <a:r>
              <a:rPr lang="it-IT" sz="2000" dirty="0" err="1"/>
              <a:t>individual</a:t>
            </a:r>
            <a:r>
              <a:rPr lang="it-IT" sz="2000" dirty="0"/>
              <a:t> - </a:t>
            </a:r>
            <a:r>
              <a:rPr lang="it-IT" sz="2000" b="1" dirty="0"/>
              <a:t>no </a:t>
            </a:r>
            <a:r>
              <a:rPr lang="it-IT" sz="2000" b="1" dirty="0" err="1"/>
              <a:t>groups</a:t>
            </a:r>
            <a:r>
              <a:rPr lang="it-IT" sz="2000" b="1" dirty="0"/>
              <a:t> are </a:t>
            </a:r>
            <a:r>
              <a:rPr lang="it-IT" sz="2000" b="1" dirty="0" err="1"/>
              <a:t>allowed</a:t>
            </a:r>
            <a:r>
              <a:rPr lang="it-IT" sz="2000" b="1" dirty="0"/>
              <a:t> </a:t>
            </a:r>
          </a:p>
          <a:p>
            <a:pPr marL="363538" lvl="1" indent="0">
              <a:buNone/>
            </a:pPr>
            <a:endParaRPr lang="it-IT" sz="1600" dirty="0"/>
          </a:p>
          <a:p>
            <a:pPr marL="276225" indent="-285750"/>
            <a:r>
              <a:rPr lang="it-IT" sz="2000" dirty="0" err="1"/>
              <a:t>Oral</a:t>
            </a:r>
            <a:r>
              <a:rPr lang="it-IT" sz="2000" dirty="0"/>
              <a:t> </a:t>
            </a:r>
            <a:r>
              <a:rPr lang="it-IT" sz="2000" dirty="0" err="1"/>
              <a:t>exam</a:t>
            </a:r>
            <a:endParaRPr lang="it-IT" sz="2000" dirty="0"/>
          </a:p>
          <a:p>
            <a:pPr marL="649288" lvl="1" indent="-285750"/>
            <a:r>
              <a:rPr lang="it-IT" sz="2000" dirty="0"/>
              <a:t>An </a:t>
            </a:r>
            <a:r>
              <a:rPr lang="it-IT" sz="2000" dirty="0" err="1"/>
              <a:t>oral</a:t>
            </a:r>
            <a:r>
              <a:rPr lang="it-IT" sz="2000" dirty="0"/>
              <a:t> </a:t>
            </a:r>
            <a:r>
              <a:rPr lang="it-IT" sz="2000" dirty="0" err="1"/>
              <a:t>exam</a:t>
            </a:r>
            <a:r>
              <a:rPr lang="it-IT" sz="2000" dirty="0"/>
              <a:t> can be </a:t>
            </a:r>
            <a:r>
              <a:rPr lang="it-IT" sz="2000" dirty="0" err="1"/>
              <a:t>requested</a:t>
            </a:r>
            <a:r>
              <a:rPr lang="it-IT" sz="2000" dirty="0"/>
              <a:t> on </a:t>
            </a:r>
            <a:r>
              <a:rPr lang="it-IT" sz="2000" dirty="0" err="1"/>
              <a:t>my</a:t>
            </a:r>
            <a:r>
              <a:rPr lang="it-IT" sz="2000" dirty="0"/>
              <a:t> </a:t>
            </a:r>
            <a:r>
              <a:rPr lang="it-IT" sz="2000" dirty="0" err="1"/>
              <a:t>discretion</a:t>
            </a:r>
            <a:endParaRPr lang="it-IT" sz="2000" dirty="0"/>
          </a:p>
          <a:p>
            <a:pPr lvl="1"/>
            <a:endParaRPr lang="it-IT" sz="17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Evaluation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Measurement</a:t>
            </a:r>
            <a:r>
              <a:rPr lang="it-IT" dirty="0"/>
              <a:t> Lab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3602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Goal of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module</a:t>
            </a:r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Measurement</a:t>
            </a:r>
            <a:r>
              <a:rPr lang="it-IT" dirty="0"/>
              <a:t> Lab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7900F962-4714-CE46-A1A8-1E5951ED3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667063"/>
            <a:ext cx="8780528" cy="5523874"/>
          </a:xfrm>
        </p:spPr>
        <p:txBody>
          <a:bodyPr>
            <a:noAutofit/>
          </a:bodyPr>
          <a:lstStyle/>
          <a:p>
            <a:pPr>
              <a:spcBef>
                <a:spcPts val="1608"/>
              </a:spcBef>
            </a:pPr>
            <a:r>
              <a:rPr lang="it-IT" b="0" dirty="0" err="1"/>
              <a:t>Why</a:t>
            </a:r>
            <a:r>
              <a:rPr lang="it-IT" b="0" dirty="0"/>
              <a:t> </a:t>
            </a:r>
            <a:r>
              <a:rPr lang="it-IT" b="0" dirty="0" err="1"/>
              <a:t>measuring</a:t>
            </a:r>
            <a:r>
              <a:rPr lang="it-IT" b="0" dirty="0"/>
              <a:t> a network?</a:t>
            </a:r>
          </a:p>
          <a:p>
            <a:pPr>
              <a:spcBef>
                <a:spcPts val="1608"/>
              </a:spcBef>
            </a:pPr>
            <a:r>
              <a:rPr lang="it-IT" b="0" dirty="0" err="1"/>
              <a:t>Types</a:t>
            </a:r>
            <a:r>
              <a:rPr lang="it-IT" b="0" dirty="0"/>
              <a:t> of network </a:t>
            </a:r>
            <a:r>
              <a:rPr lang="it-IT" b="0" dirty="0" err="1"/>
              <a:t>measurements</a:t>
            </a:r>
            <a:endParaRPr lang="it-IT" b="0" dirty="0"/>
          </a:p>
          <a:p>
            <a:pPr>
              <a:spcBef>
                <a:spcPts val="1608"/>
              </a:spcBef>
            </a:pPr>
            <a:r>
              <a:rPr lang="it-IT" b="0" dirty="0"/>
              <a:t>The network </a:t>
            </a:r>
            <a:r>
              <a:rPr lang="it-IT" b="0" dirty="0" err="1"/>
              <a:t>analyst</a:t>
            </a:r>
            <a:r>
              <a:rPr lang="it-IT" b="0" dirty="0"/>
              <a:t> </a:t>
            </a:r>
            <a:r>
              <a:rPr lang="it-IT" b="0" dirty="0" err="1"/>
              <a:t>toolset</a:t>
            </a:r>
            <a:endParaRPr lang="it-IT" b="0" dirty="0"/>
          </a:p>
          <a:p>
            <a:pPr>
              <a:spcBef>
                <a:spcPts val="1608"/>
              </a:spcBef>
            </a:pPr>
            <a:r>
              <a:rPr lang="it-IT" b="0" dirty="0" err="1"/>
              <a:t>Visualization</a:t>
            </a:r>
            <a:r>
              <a:rPr lang="it-IT" b="0" dirty="0"/>
              <a:t> </a:t>
            </a:r>
            <a:r>
              <a:rPr lang="it-IT" b="0" dirty="0" err="1"/>
              <a:t>techniques</a:t>
            </a:r>
            <a:r>
              <a:rPr lang="it-IT" b="0" dirty="0"/>
              <a:t> for network </a:t>
            </a:r>
            <a:r>
              <a:rPr lang="it-IT" b="0" dirty="0" err="1"/>
              <a:t>measurements</a:t>
            </a:r>
            <a:endParaRPr lang="it-IT" b="0" dirty="0"/>
          </a:p>
          <a:p>
            <a:pPr>
              <a:spcBef>
                <a:spcPts val="1608"/>
              </a:spcBef>
            </a:pPr>
            <a:r>
              <a:rPr lang="it-IT" b="0" dirty="0"/>
              <a:t>Applications</a:t>
            </a:r>
          </a:p>
          <a:p>
            <a:pPr lvl="1">
              <a:spcBef>
                <a:spcPts val="1608"/>
              </a:spcBef>
            </a:pPr>
            <a:r>
              <a:rPr lang="it-IT" dirty="0"/>
              <a:t>Traffic </a:t>
            </a:r>
            <a:r>
              <a:rPr lang="it-IT" dirty="0" err="1"/>
              <a:t>classification</a:t>
            </a:r>
            <a:r>
              <a:rPr lang="it-IT" dirty="0"/>
              <a:t> / </a:t>
            </a:r>
            <a:r>
              <a:rPr lang="it-IT" dirty="0" err="1"/>
              <a:t>prediction</a:t>
            </a:r>
            <a:endParaRPr lang="it-IT" dirty="0"/>
          </a:p>
          <a:p>
            <a:pPr lvl="1">
              <a:spcBef>
                <a:spcPts val="1608"/>
              </a:spcBef>
            </a:pPr>
            <a:r>
              <a:rPr lang="it-IT" b="0" dirty="0"/>
              <a:t>Wi-Fi sniffing (singl</a:t>
            </a:r>
            <a:r>
              <a:rPr lang="it-IT" dirty="0"/>
              <a:t>e-point / multi-point)</a:t>
            </a:r>
          </a:p>
          <a:p>
            <a:pPr marL="363538" lvl="1" indent="0">
              <a:spcBef>
                <a:spcPts val="1608"/>
              </a:spcBef>
              <a:buNone/>
            </a:pPr>
            <a:endParaRPr lang="it-IT" dirty="0"/>
          </a:p>
          <a:p>
            <a:pPr marL="363538" lvl="1" indent="0">
              <a:spcBef>
                <a:spcPts val="1608"/>
              </a:spcBef>
              <a:buNone/>
            </a:pPr>
            <a:endParaRPr lang="it-IT" dirty="0"/>
          </a:p>
          <a:p>
            <a:pPr marL="363538" lvl="1" indent="0">
              <a:spcBef>
                <a:spcPts val="1608"/>
              </a:spcBef>
              <a:buNone/>
            </a:pPr>
            <a:endParaRPr lang="it-IT" b="0" dirty="0"/>
          </a:p>
          <a:p>
            <a:pPr>
              <a:spcBef>
                <a:spcPts val="1608"/>
              </a:spcBef>
            </a:pPr>
            <a:endParaRPr lang="it-IT" dirty="0"/>
          </a:p>
          <a:p>
            <a:pPr lvl="1"/>
            <a:endParaRPr lang="it-IT" sz="1700" dirty="0"/>
          </a:p>
        </p:txBody>
      </p:sp>
    </p:spTree>
    <p:extLst>
      <p:ext uri="{BB962C8B-B14F-4D97-AF65-F5344CB8AC3E}">
        <p14:creationId xmlns:p14="http://schemas.microsoft.com/office/powerpoint/2010/main" val="189736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140BF6-C6DB-9F48-AB1F-B27AF8EF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Internet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6E40-CE5C-EB4B-BD22-D24A9B41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2D607-86EB-7247-A771-BEF1A2BEE5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09B6A-97A1-914E-BC05-592FAB403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The Interconnection of networks</a:t>
            </a:r>
          </a:p>
          <a:p>
            <a:endParaRPr lang="en-US" b="0" dirty="0"/>
          </a:p>
          <a:p>
            <a:r>
              <a:rPr lang="en-US" b="0" dirty="0"/>
              <a:t>Hosts (PC, laptop, smartphones, Web servers) connected to the internet </a:t>
            </a:r>
            <a:r>
              <a:rPr lang="en-GB" b="0" dirty="0"/>
              <a:t>can send and receive data to other hosts.</a:t>
            </a:r>
          </a:p>
          <a:p>
            <a:endParaRPr lang="en-US" b="0" dirty="0"/>
          </a:p>
          <a:p>
            <a:r>
              <a:rPr lang="en-GB" b="0" dirty="0"/>
              <a:t>Data is carried by packets which are forwarded along a network path formed by one or more links joined by network elements such as routers or switches.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73428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726BBB-6FF9-F34C-BF94-FC269C4ED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056" y="872331"/>
            <a:ext cx="6490246" cy="51133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E140BF6-C6DB-9F48-AB1F-B27AF8EF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Internet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6E40-CE5C-EB4B-BD22-D24A9B41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9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2D607-86EB-7247-A771-BEF1A2BEE5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6580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902B2-0676-AB4F-BFCE-BCC51F8DF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b="0" dirty="0"/>
              <a:t>The structure of a data packet is defined by specific network protocols. Each technology (LAN, Wi-Fi, cellular, IoT, etc.) defines its own packet structure...</a:t>
            </a:r>
          </a:p>
          <a:p>
            <a:endParaRPr lang="en-GB" b="0" dirty="0"/>
          </a:p>
          <a:p>
            <a:r>
              <a:rPr lang="en-GB" b="0" dirty="0"/>
              <a:t>... which sooner or later becomes an Internet Protocol (IP) packet.</a:t>
            </a:r>
          </a:p>
          <a:p>
            <a:endParaRPr lang="en-GB" b="0" dirty="0"/>
          </a:p>
          <a:p>
            <a:r>
              <a:rPr lang="en-GB" b="0" dirty="0"/>
              <a:t>IP packets comprise a payload, which contains the data and a header, which contains the information each network element needs to determine over which link to forward the packet.</a:t>
            </a:r>
          </a:p>
          <a:p>
            <a:endParaRPr lang="en-GB" dirty="0"/>
          </a:p>
          <a:p>
            <a:r>
              <a:rPr lang="en-GB" b="0" dirty="0"/>
              <a:t>Each host in the Internet possesses one or more IP addresses (32bits numbers in v4 or 128bits in v6)</a:t>
            </a:r>
          </a:p>
          <a:p>
            <a:endParaRPr lang="en-US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CF284-64BF-584B-96A7-6DF61E4C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12547-4079-734F-808C-709ECE25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10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3584E-021C-F848-8BDD-B6598E4FB43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97711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DAD0AD-3F7A-C14D-8EC9-EC8A716DA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0" dirty="0"/>
              <a:t>The IP header contains the IP address of both its source and destination.</a:t>
            </a:r>
          </a:p>
          <a:p>
            <a:endParaRPr lang="en-GB" b="0" dirty="0"/>
          </a:p>
          <a:p>
            <a:r>
              <a:rPr lang="en-GB" b="0" dirty="0"/>
              <a:t>An IP router maintains a routing table which determines the link over which a given packet is to be forwarded based on the packet’s destination IP address.</a:t>
            </a:r>
          </a:p>
          <a:p>
            <a:endParaRPr lang="en-GB" b="0" dirty="0"/>
          </a:p>
          <a:p>
            <a:r>
              <a:rPr lang="en-GB" b="0" dirty="0"/>
              <a:t>The IP header contains other  elds, such as a checksum of the header contents (to detect bit errors) and time-to-live (TTL), an initially positive integer that is decremented by each router.</a:t>
            </a:r>
          </a:p>
          <a:p>
            <a:endParaRPr lang="en-GB" b="0" dirty="0"/>
          </a:p>
          <a:p>
            <a:r>
              <a:rPr lang="en-GB" b="0" dirty="0"/>
              <a:t>Q: What happens if the TTL reaches zero?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830E44-56B9-424D-9C1A-8DFCB863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97A71-5690-7C47-8948-CEC5BBF1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11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D09D5-06F3-0D4B-A6C7-85D436BF5B6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275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CC4709-2D8F-6D4E-8090-51F990DF0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b="0" dirty="0"/>
              <a:t>Applications running on hosts do not use the IP protocol directly, but they interact through a transport layer.</a:t>
            </a:r>
          </a:p>
          <a:p>
            <a:endParaRPr lang="en-GB" b="0" dirty="0"/>
          </a:p>
          <a:p>
            <a:r>
              <a:rPr lang="en-GB" b="0" dirty="0"/>
              <a:t>The IP payload includes the transport protocol header, which contains the source and destination ports (16bit numbers).</a:t>
            </a:r>
          </a:p>
          <a:p>
            <a:endParaRPr lang="en-GB" b="0" dirty="0"/>
          </a:p>
          <a:p>
            <a:r>
              <a:rPr lang="en-GB" b="0" dirty="0"/>
              <a:t>Two transport protocols are predominant: UDP and TCP. While UDP provides a transparent interface to IP, TCP provides facilities to detect or recover from loss of packets in transmission.</a:t>
            </a:r>
          </a:p>
          <a:p>
            <a:endParaRPr lang="en-GB" b="0" dirty="0"/>
          </a:p>
          <a:p>
            <a:r>
              <a:rPr lang="en-GB" b="0" dirty="0"/>
              <a:t>Q: What additional information are contained in the TCP header?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C7C471-21AE-1341-9DFA-2B73C0EA4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75AA5-353B-AF4D-8C8A-EE668ED74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12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8C295-4243-3040-A1EE-1A4AF8F0B5E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291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it-IT" noProof="0" dirty="0"/>
              <a:t>Network </a:t>
            </a:r>
            <a:r>
              <a:rPr lang="it-IT" noProof="0" dirty="0" err="1"/>
              <a:t>measurements</a:t>
            </a:r>
            <a:endParaRPr lang="it-IT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17261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8A409-A953-F24C-8015-08ED5A160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i="1" dirty="0"/>
          </a:p>
          <a:p>
            <a:r>
              <a:rPr lang="en-GB" b="0" i="1" dirty="0"/>
              <a:t>When you can measure what you are speaking about, and express it in numbers, you know something about it; but when you cannot measure it, when you cannot express it in numbers, your knowledge is of a meagre and unsatisfactory kind. (Lord Kelvin)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43246A-F6B7-EC4C-A6B6-A7B1CFB7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measuring?</a:t>
            </a:r>
          </a:p>
        </p:txBody>
      </p:sp>
    </p:spTree>
    <p:extLst>
      <p:ext uri="{BB962C8B-B14F-4D97-AF65-F5344CB8AC3E}">
        <p14:creationId xmlns:p14="http://schemas.microsoft.com/office/powerpoint/2010/main" val="3231279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0B9A3C-91B8-204F-B0B4-EFED37825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dirty="0"/>
              <a:t>Without measurements, we would not have objective records or benchmark of how a network behaves.</a:t>
            </a:r>
          </a:p>
          <a:p>
            <a:endParaRPr lang="en-GB" b="0" dirty="0"/>
          </a:p>
          <a:p>
            <a:r>
              <a:rPr lang="en-GB" b="0" dirty="0"/>
              <a:t>Measurements show whether changes improve or degrade the network performance, and by how much.</a:t>
            </a:r>
          </a:p>
          <a:p>
            <a:endParaRPr lang="en-GB" b="0" dirty="0"/>
          </a:p>
          <a:p>
            <a:r>
              <a:rPr lang="en-GB" b="0" dirty="0"/>
              <a:t>Similarly, by measuring the network behaviour and comparing it to the benchmark, we can also identify if something has changed!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0716BA-2BD3-394E-868A-4FE2553E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measuring a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24F7E-C8F9-D945-809A-134DEA34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15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47A8-17A2-9F44-A038-E2C8BE364C1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75973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62E9C4-372D-D24F-B04F-8C50126F0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dirty="0"/>
              <a:t>Active VS Passive</a:t>
            </a:r>
          </a:p>
          <a:p>
            <a:endParaRPr lang="en-GB" b="0" dirty="0"/>
          </a:p>
          <a:p>
            <a:r>
              <a:rPr lang="en-GB" b="0" dirty="0"/>
              <a:t>Physical Layer VS Upper Layers</a:t>
            </a:r>
          </a:p>
          <a:p>
            <a:endParaRPr lang="en-GB" b="0" dirty="0"/>
          </a:p>
          <a:p>
            <a:r>
              <a:rPr lang="en-GB" b="0" dirty="0"/>
              <a:t>Packet-level VS Flow-level</a:t>
            </a:r>
          </a:p>
          <a:p>
            <a:endParaRPr lang="en-GB" b="0" dirty="0"/>
          </a:p>
          <a:p>
            <a:r>
              <a:rPr lang="en-GB" b="0" dirty="0"/>
              <a:t>Single point VS Multi-point</a:t>
            </a:r>
          </a:p>
          <a:p>
            <a:endParaRPr lang="en-GB" b="0" dirty="0"/>
          </a:p>
          <a:p>
            <a:r>
              <a:rPr lang="en-GB" b="0" dirty="0"/>
              <a:t>Network VS Application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D9BD64-B370-8D46-BA18-21D819CE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network measurements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A7125-2BB1-B041-A930-62260B921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16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897B5-940A-764D-9B40-3F98CB008E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0112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D40318-FAF4-C44C-AEBC-007757B8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Active measurements</a:t>
            </a:r>
            <a:r>
              <a:rPr lang="en-GB" b="0" dirty="0"/>
              <a:t>: obtained through injected traffic.</a:t>
            </a:r>
          </a:p>
          <a:p>
            <a:pPr marL="0" indent="0">
              <a:buNone/>
            </a:pPr>
            <a:endParaRPr lang="en-GB" b="0" dirty="0"/>
          </a:p>
          <a:p>
            <a:r>
              <a:rPr lang="en-GB" b="0" dirty="0"/>
              <a:t>Used for fault/vulnerability detection, network/application performance tests.</a:t>
            </a:r>
          </a:p>
          <a:p>
            <a:endParaRPr lang="en-GB" b="0" dirty="0"/>
          </a:p>
          <a:p>
            <a:r>
              <a:rPr lang="en-GB" b="0" dirty="0"/>
              <a:t>Impose extra traffic on the network (most operators are unwilling to do so)</a:t>
            </a:r>
          </a:p>
          <a:p>
            <a:endParaRPr lang="en-GB" b="0" dirty="0"/>
          </a:p>
          <a:p>
            <a:r>
              <a:rPr lang="en-GB" b="0" dirty="0"/>
              <a:t>Can distort the network behaviour in the process</a:t>
            </a:r>
          </a:p>
          <a:p>
            <a:endParaRPr lang="en-GB" b="0" dirty="0"/>
          </a:p>
          <a:p>
            <a:r>
              <a:rPr lang="en-GB" b="0" dirty="0"/>
              <a:t>Scalability issues (large number of trials)</a:t>
            </a:r>
          </a:p>
          <a:p>
            <a:endParaRPr lang="en-GB" b="0" dirty="0"/>
          </a:p>
          <a:p>
            <a:r>
              <a:rPr lang="en-GB" b="0" dirty="0"/>
              <a:t>Examples: ping, </a:t>
            </a:r>
            <a:r>
              <a:rPr lang="en-GB" b="0" dirty="0" err="1"/>
              <a:t>iperf</a:t>
            </a:r>
            <a:r>
              <a:rPr lang="en-GB" b="0" dirty="0"/>
              <a:t>, traceroute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C31603-7421-2C4E-8771-7632F4D6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VS Passive measurements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9F0E8-099F-F547-B2BB-B1EC354A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17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0F96D-D1C6-B345-8AFF-75876273FD8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96120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D40318-FAF4-C44C-AEBC-007757B8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Passive measurements</a:t>
            </a:r>
            <a:r>
              <a:rPr lang="en-GB" b="0" dirty="0"/>
              <a:t>: observation of existing traffic</a:t>
            </a:r>
          </a:p>
          <a:p>
            <a:pPr marL="0" indent="0">
              <a:buNone/>
            </a:pPr>
            <a:endParaRPr lang="en-GB" b="0" dirty="0"/>
          </a:p>
          <a:p>
            <a:r>
              <a:rPr lang="en-GB" b="0" dirty="0"/>
              <a:t>Do not inject extra traffic</a:t>
            </a:r>
          </a:p>
          <a:p>
            <a:endParaRPr lang="en-GB" b="0" dirty="0"/>
          </a:p>
          <a:p>
            <a:r>
              <a:rPr lang="en-GB" b="0" dirty="0"/>
              <a:t>Observe network packets and connections (flows) in details</a:t>
            </a:r>
          </a:p>
          <a:p>
            <a:endParaRPr lang="en-GB" b="0" dirty="0"/>
          </a:p>
          <a:p>
            <a:r>
              <a:rPr lang="en-GB" b="0" dirty="0"/>
              <a:t>Massive amount of data (hardware and memory issues)</a:t>
            </a:r>
          </a:p>
          <a:p>
            <a:endParaRPr lang="en-GB" b="0" dirty="0"/>
          </a:p>
          <a:p>
            <a:r>
              <a:rPr lang="en-GB" b="0" dirty="0"/>
              <a:t>Legal issues</a:t>
            </a:r>
          </a:p>
          <a:p>
            <a:endParaRPr lang="en-GB" b="0" dirty="0"/>
          </a:p>
          <a:p>
            <a:r>
              <a:rPr lang="en-GB" b="0" dirty="0"/>
              <a:t>Examples: </a:t>
            </a:r>
            <a:r>
              <a:rPr lang="en-GB" b="0" dirty="0" err="1"/>
              <a:t>tcpdump</a:t>
            </a:r>
            <a:r>
              <a:rPr lang="en-GB" b="0" dirty="0"/>
              <a:t>, </a:t>
            </a:r>
            <a:r>
              <a:rPr lang="en-GB" b="0" dirty="0" err="1"/>
              <a:t>WireShark</a:t>
            </a:r>
            <a:r>
              <a:rPr lang="en-GB" b="0" dirty="0"/>
              <a:t>, DPI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C31603-7421-2C4E-8771-7632F4D6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VS Passive measurements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9F0E8-099F-F547-B2BB-B1EC354A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18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0F96D-D1C6-B345-8AFF-75876273FD8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56841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BB107D-7B9F-FA49-BCBE-2BBAB7599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0" dirty="0"/>
              <a:t>Physical measurements can be always obtained, regardless of the upper layers protocol used.</a:t>
            </a:r>
          </a:p>
          <a:p>
            <a:endParaRPr lang="en-GB" b="0" dirty="0"/>
          </a:p>
          <a:p>
            <a:r>
              <a:rPr lang="en-GB" b="0" dirty="0"/>
              <a:t>Mostly used in cellular/wireless networks (LTE, Wi-Fi, Bluetooth, Sensor Networks..). Evaluated on a frame-basis.</a:t>
            </a:r>
          </a:p>
          <a:p>
            <a:pPr lvl="1"/>
            <a:r>
              <a:rPr lang="en-GB" b="0" dirty="0"/>
              <a:t>Received signal strength (RSS)</a:t>
            </a:r>
          </a:p>
          <a:p>
            <a:pPr lvl="1"/>
            <a:r>
              <a:rPr lang="en-GB" b="0" dirty="0"/>
              <a:t>Channel quality indicator (CQI)</a:t>
            </a:r>
          </a:p>
          <a:p>
            <a:pPr lvl="1"/>
            <a:r>
              <a:rPr lang="en-GB" b="0" dirty="0"/>
              <a:t>Modulation and coding scheme (MCS)</a:t>
            </a:r>
          </a:p>
          <a:p>
            <a:pPr lvl="1"/>
            <a:r>
              <a:rPr lang="en-GB" b="0" dirty="0"/>
              <a:t>Bit error rate (BER)</a:t>
            </a:r>
          </a:p>
          <a:p>
            <a:pPr lvl="1"/>
            <a:r>
              <a:rPr lang="en-GB" b="0" dirty="0"/>
              <a:t>Throughput (THR)</a:t>
            </a:r>
          </a:p>
          <a:p>
            <a:pPr lvl="1"/>
            <a:endParaRPr lang="en-GB" b="0" dirty="0"/>
          </a:p>
          <a:p>
            <a:r>
              <a:rPr lang="en-GB" b="0" dirty="0"/>
              <a:t>Upper layers measurements generally used in IP-based networks.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6A0BF4-859B-FB40-91A5-809D1162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vs Upper layers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CECAF-8476-7C44-A113-DF3EE6A2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19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6DD11-ED85-B54D-A1FF-340395C160C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93638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F59323-3F59-9742-8F95-0437E8DE3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Packet-level:</a:t>
            </a:r>
            <a:r>
              <a:rPr lang="en-GB" b="0" dirty="0"/>
              <a:t> </a:t>
            </a:r>
            <a:r>
              <a:rPr lang="en-GB" b="0" dirty="0" err="1"/>
              <a:t>miscroscopic</a:t>
            </a:r>
            <a:r>
              <a:rPr lang="en-GB" b="0" dirty="0"/>
              <a:t> scale, every single packet that travels across the measurement point is captured</a:t>
            </a:r>
          </a:p>
          <a:p>
            <a:endParaRPr lang="en-GB" b="0" dirty="0"/>
          </a:p>
          <a:p>
            <a:r>
              <a:rPr lang="en-GB" dirty="0"/>
              <a:t>Collected information:</a:t>
            </a:r>
          </a:p>
          <a:p>
            <a:pPr lvl="1"/>
            <a:r>
              <a:rPr lang="en-GB" dirty="0"/>
              <a:t>Source and Destination IP addresses</a:t>
            </a:r>
          </a:p>
          <a:p>
            <a:pPr lvl="1"/>
            <a:r>
              <a:rPr lang="en-GB" dirty="0"/>
              <a:t>Source and Destination ports</a:t>
            </a:r>
          </a:p>
          <a:p>
            <a:pPr lvl="1"/>
            <a:r>
              <a:rPr lang="en-GB" dirty="0"/>
              <a:t>(statistics on) packet size, timestamp</a:t>
            </a:r>
          </a:p>
          <a:p>
            <a:pPr lvl="1"/>
            <a:r>
              <a:rPr lang="en-GB" dirty="0"/>
              <a:t>protocol information</a:t>
            </a:r>
          </a:p>
          <a:p>
            <a:pPr lvl="1"/>
            <a:r>
              <a:rPr lang="en-GB" dirty="0"/>
              <a:t>application data</a:t>
            </a:r>
          </a:p>
          <a:p>
            <a:endParaRPr lang="en-GB" dirty="0"/>
          </a:p>
          <a:p>
            <a:r>
              <a:rPr lang="en-GB" b="0" dirty="0"/>
              <a:t>Storing packet traces is costly! Need for high-end network interfaces, high CPU power and massive data storage capabilities!</a:t>
            </a:r>
          </a:p>
          <a:p>
            <a:endParaRPr lang="en-GB" b="0" dirty="0"/>
          </a:p>
          <a:p>
            <a:r>
              <a:rPr lang="en-GB" dirty="0"/>
              <a:t>De facto standard: </a:t>
            </a:r>
            <a:r>
              <a:rPr lang="en-GB" b="0" dirty="0" err="1"/>
              <a:t>libpcap</a:t>
            </a:r>
            <a:r>
              <a:rPr lang="en-GB" b="0" dirty="0"/>
              <a:t>/</a:t>
            </a:r>
            <a:r>
              <a:rPr lang="en-GB" b="0" dirty="0" err="1"/>
              <a:t>WinPcap</a:t>
            </a:r>
            <a:r>
              <a:rPr lang="en-GB" b="0" dirty="0"/>
              <a:t> library (</a:t>
            </a:r>
            <a:r>
              <a:rPr lang="en-GB" b="0" dirty="0" err="1"/>
              <a:t>tcpdump</a:t>
            </a:r>
            <a:r>
              <a:rPr lang="en-GB" b="0" dirty="0"/>
              <a:t>, Wireshark)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C92B17-9116-A743-A4BA-697B3A539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Packet-level VS Flow-level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96BD4-734D-2746-BB34-EFA2DA8D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20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167AE-044B-6747-9D26-C2DBF933906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4960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7C6783-EDAA-C94C-828E-C97C1DE2A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Flow-level</a:t>
            </a:r>
            <a:r>
              <a:rPr lang="en-GB" b="0" dirty="0"/>
              <a:t>: macroscopic scale, packets are aggregated into flows</a:t>
            </a:r>
          </a:p>
          <a:p>
            <a:endParaRPr lang="en-GB" b="0" dirty="0"/>
          </a:p>
          <a:p>
            <a:r>
              <a:rPr lang="en-GB" dirty="0"/>
              <a:t>Flow</a:t>
            </a:r>
            <a:r>
              <a:rPr lang="en-GB" b="0" dirty="0"/>
              <a:t>: set of packets that share origin and destination address and ports, observed within a pre-defined time frame.</a:t>
            </a:r>
          </a:p>
          <a:p>
            <a:endParaRPr lang="en-GB" dirty="0"/>
          </a:p>
          <a:p>
            <a:r>
              <a:rPr lang="en-GB" dirty="0"/>
              <a:t>Collected information:</a:t>
            </a:r>
          </a:p>
          <a:p>
            <a:pPr lvl="1"/>
            <a:r>
              <a:rPr lang="en-GB" dirty="0"/>
              <a:t>Source and Destination IP addresses</a:t>
            </a:r>
          </a:p>
          <a:p>
            <a:pPr lvl="1"/>
            <a:r>
              <a:rPr lang="en-GB" dirty="0"/>
              <a:t>Source and Destination ports</a:t>
            </a:r>
          </a:p>
          <a:p>
            <a:pPr lvl="1"/>
            <a:r>
              <a:rPr lang="en-GB" dirty="0"/>
              <a:t>Type of transport protocol</a:t>
            </a:r>
          </a:p>
          <a:p>
            <a:pPr lvl="1"/>
            <a:r>
              <a:rPr lang="en-GB" dirty="0"/>
              <a:t>Flow size, duration, bitrate</a:t>
            </a:r>
          </a:p>
          <a:p>
            <a:pPr lvl="1"/>
            <a:r>
              <a:rPr lang="en-GB" dirty="0"/>
              <a:t>Number of flows per unit time</a:t>
            </a:r>
          </a:p>
          <a:p>
            <a:pPr lvl="1"/>
            <a:endParaRPr lang="en-GB" dirty="0"/>
          </a:p>
          <a:p>
            <a:r>
              <a:rPr lang="en-GB" dirty="0"/>
              <a:t>De facto standard: </a:t>
            </a:r>
            <a:r>
              <a:rPr lang="en-GB" b="0" dirty="0"/>
              <a:t>Cisco NetFlow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B49965-181A-8845-B56D-3B788591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Packet-level VS Flow-level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D762B-19A5-AF4E-AEA7-CC2FF170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21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0DFC8-7225-EA4C-A4C4-96FDCE31BB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22434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4E7600-7EED-6549-9597-A2E491DEA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dirty="0"/>
              <a:t>Depending on the analysis task, </a:t>
            </a:r>
            <a:r>
              <a:rPr lang="en-GB" b="0" dirty="0" err="1"/>
              <a:t>tra</a:t>
            </a:r>
            <a:r>
              <a:rPr lang="en-GB" b="0" dirty="0"/>
              <a:t> c can be captured at different monitoring points</a:t>
            </a:r>
          </a:p>
          <a:p>
            <a:endParaRPr lang="en-GB" dirty="0"/>
          </a:p>
          <a:p>
            <a:r>
              <a:rPr lang="en-GB" b="0" dirty="0"/>
              <a:t>In general it is much simpler to observe </a:t>
            </a:r>
            <a:r>
              <a:rPr lang="en-GB" b="0" dirty="0" err="1"/>
              <a:t>tra</a:t>
            </a:r>
            <a:r>
              <a:rPr lang="en-GB" b="0" dirty="0"/>
              <a:t> c at the ingress/egress links of the target network (e.g., customs and border protection)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A372BA-3161-CD48-8F2B-3E932570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Single-point vs multi-point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FEFBE-1A9E-DA4C-8A47-DFF8917A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22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2EBF8-912B-8F40-9EA8-5DD6C06BB2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0AF1CC-783A-4545-8353-87507462C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311" y="3405074"/>
            <a:ext cx="3011770" cy="272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9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516D45-1D6A-A44E-BE71-B1C4F9315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dirty="0"/>
              <a:t>Sometimes, one is interested in the performance of a specific application rather then the overall network.</a:t>
            </a:r>
          </a:p>
          <a:p>
            <a:endParaRPr lang="en-GB" b="0" dirty="0"/>
          </a:p>
          <a:p>
            <a:r>
              <a:rPr lang="en-GB" b="0" dirty="0"/>
              <a:t>Example: monitor the performance of HTTP downloads through different providers.</a:t>
            </a:r>
          </a:p>
          <a:p>
            <a:endParaRPr lang="en-GB" b="0" dirty="0"/>
          </a:p>
          <a:p>
            <a:r>
              <a:rPr lang="en-GB" b="0" dirty="0"/>
              <a:t>In these cases, it is easier to get measurements through specific application tests rather than synthesise them from the packet-level or flow-level data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0C7DE6-C5E0-8943-B4FA-C108988C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vs Application measurements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6027A-82F4-3C46-8F5C-4E093945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23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53622-0DFE-4F46-B21B-E598F730721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Measurement</a:t>
            </a:r>
            <a:r>
              <a:rPr lang="it-IT" dirty="0"/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1586807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6C404-CFA9-4240-9262-42506AED4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Active measurements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9AF6C2-8D2D-B641-94F4-2DBDED736A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95B3A-19CB-984A-95E2-7F591C8648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96300" y="6381750"/>
            <a:ext cx="6477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pPr/>
              <a:t>24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163A8-C885-E143-AA25-73991EAC9E1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992688" y="6381750"/>
            <a:ext cx="4151312" cy="365125"/>
          </a:xfrm>
        </p:spPr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4572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F4DDB-5E72-7047-9705-D60764680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dirty="0"/>
              <a:t>Active measurements are primarily used for testing the correct behaviour of a network. Most common tools:</a:t>
            </a:r>
          </a:p>
          <a:p>
            <a:endParaRPr lang="en-GB" dirty="0"/>
          </a:p>
          <a:p>
            <a:pPr lvl="1"/>
            <a:r>
              <a:rPr lang="en-GB" dirty="0"/>
              <a:t>Packet </a:t>
            </a:r>
            <a:r>
              <a:rPr lang="en-GB" dirty="0" err="1"/>
              <a:t>INternet</a:t>
            </a:r>
            <a:r>
              <a:rPr lang="en-GB" dirty="0"/>
              <a:t> Groper (ping)</a:t>
            </a:r>
          </a:p>
          <a:p>
            <a:pPr lvl="1"/>
            <a:r>
              <a:rPr lang="en-GB" dirty="0"/>
              <a:t>traceroute</a:t>
            </a:r>
          </a:p>
          <a:p>
            <a:pPr lvl="1"/>
            <a:r>
              <a:rPr lang="en-GB" dirty="0" err="1"/>
              <a:t>Iperf</a:t>
            </a:r>
            <a:endParaRPr lang="en-GB" dirty="0"/>
          </a:p>
          <a:p>
            <a:pPr lvl="1"/>
            <a:r>
              <a:rPr lang="en-GB" dirty="0"/>
              <a:t>Simple Network Monitoring Protocol (SNMP)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89B0DD-916E-E841-9BB5-86932839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measurements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BF0C9-C53D-B744-9753-4F0C537CBF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70349" y="6381672"/>
            <a:ext cx="4151513" cy="365125"/>
          </a:xfrm>
        </p:spPr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Measurement</a:t>
            </a:r>
            <a:r>
              <a:rPr lang="it-IT" dirty="0"/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3171525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84FF35-58AB-D74B-BE06-9D1BF87E8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dirty="0"/>
              <a:t>Written in 1983 as a tool to troubleshoot problems in IP networks</a:t>
            </a:r>
          </a:p>
          <a:p>
            <a:endParaRPr lang="en-GB" b="0" dirty="0"/>
          </a:p>
          <a:p>
            <a:r>
              <a:rPr lang="en-GB" b="0" dirty="0"/>
              <a:t>Based on the Internet Control Message Protocol (ICMP): echo request followed by echo reply</a:t>
            </a:r>
          </a:p>
          <a:p>
            <a:pPr marL="0" indent="0">
              <a:buNone/>
            </a:pPr>
            <a:endParaRPr lang="en-GB" b="0" dirty="0"/>
          </a:p>
          <a:p>
            <a:r>
              <a:rPr lang="en-GB" b="0" dirty="0"/>
              <a:t>Measures the round-trip time (RTT) between the source and a given destination</a:t>
            </a:r>
          </a:p>
          <a:p>
            <a:endParaRPr lang="en-US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EF8CC8-504C-E245-872B-A1157A820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0236F-1C68-DB48-B738-8FE65397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B22F5-FBEA-BA47-ABCE-EE69C4A644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DC0A34-711F-D54F-BD7D-A373DE55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99" y="4708122"/>
            <a:ext cx="3616505" cy="1137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7AE84E-CE7F-6E40-BF95-C5E13B9609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1669"/>
          <a:stretch/>
        </p:blipFill>
        <p:spPr>
          <a:xfrm>
            <a:off x="4572000" y="3981984"/>
            <a:ext cx="4252055" cy="220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616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FD3792-34D8-FA4A-92AD-D5FB3425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0" dirty="0"/>
              <a:t>traceroute can be used to analyse a route from a source to a given destination.</a:t>
            </a:r>
          </a:p>
          <a:p>
            <a:r>
              <a:rPr lang="en-GB" b="0" dirty="0"/>
              <a:t>How does it work?</a:t>
            </a:r>
          </a:p>
          <a:p>
            <a:pPr lvl="1"/>
            <a:r>
              <a:rPr lang="en-GB" dirty="0"/>
              <a:t>Send an ICMP Echo request/UDP packet to the destination with TTL = 1. The first router will decrement the TTL and reply to the source with an ICMP TTL exceeded message.</a:t>
            </a:r>
          </a:p>
          <a:p>
            <a:pPr lvl="1"/>
            <a:r>
              <a:rPr lang="en-GB" dirty="0"/>
              <a:t>Now we now the address of the first router on the route.</a:t>
            </a:r>
          </a:p>
          <a:p>
            <a:pPr lvl="1"/>
            <a:r>
              <a:rPr lang="en-GB" dirty="0"/>
              <a:t>Send another ICMP Echo request with TTL = 2. Now we now the address of second router.</a:t>
            </a:r>
          </a:p>
          <a:p>
            <a:pPr lvl="1"/>
            <a:r>
              <a:rPr lang="en-GB" dirty="0"/>
              <a:t>Continue up to a pre-defined TTL (max number of hops).</a:t>
            </a:r>
          </a:p>
          <a:p>
            <a:r>
              <a:rPr lang="en-GB" b="0" dirty="0"/>
              <a:t>Issue: no guarantee that every packet will follow the same path (routing decisions, load balancers...)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ADDB28-3E8C-254F-BDE9-56C6B46E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Traceroute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D6CED-BB64-0343-AE34-E534712F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27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74859-117E-A247-9506-68C29010BE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1377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B897BE16-23A7-5B42-9AE2-C71696784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662" y="872331"/>
            <a:ext cx="6612189" cy="51133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09AEE3F-3B75-A94E-8BF5-7A3A2876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Traceroute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4825F-0819-0D4D-93F1-4F70A625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28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ACBEB-83D9-6148-A3C6-46D5CB8840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89073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46262B-2B75-7345-8A41-26DDF7FB7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We’ll use ICMP to introduce the platform we’ll use for practical activities (and possibly </a:t>
            </a:r>
            <a:r>
              <a:rPr lang="en-US" b="0" dirty="0" err="1"/>
              <a:t>homeworks</a:t>
            </a:r>
            <a:r>
              <a:rPr lang="en-US" b="0" dirty="0"/>
              <a:t>)</a:t>
            </a:r>
          </a:p>
          <a:p>
            <a:pPr marL="0" indent="0">
              <a:buNone/>
            </a:pPr>
            <a:endParaRPr lang="en-US" b="0" dirty="0"/>
          </a:p>
          <a:p>
            <a:r>
              <a:rPr lang="en-US" b="0" dirty="0"/>
              <a:t>Go to </a:t>
            </a:r>
            <a:r>
              <a:rPr lang="en-US" b="0" dirty="0" err="1"/>
              <a:t>colab.research.google.com</a:t>
            </a:r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AE5970-8786-8E45-ACF0-C62E194A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Playing around with ICMP and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AC58C-85E8-1242-B62A-5F8F150E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29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F359C-795E-0844-8D9A-F6EE3FF878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07269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A0436-E9A3-614F-A69A-63189520A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1" dirty="0" err="1"/>
              <a:t>iperf</a:t>
            </a:r>
            <a:r>
              <a:rPr lang="en-GB" b="0" dirty="0"/>
              <a:t> is another widely used tool for active network performance measurement:</a:t>
            </a:r>
          </a:p>
          <a:p>
            <a:r>
              <a:rPr lang="en-GB" b="0" dirty="0"/>
              <a:t>Client/Server paradigm (must be active on both ends)</a:t>
            </a:r>
          </a:p>
          <a:p>
            <a:endParaRPr lang="en-GB" b="0" dirty="0"/>
          </a:p>
          <a:p>
            <a:r>
              <a:rPr lang="en-GB" b="0" dirty="0"/>
              <a:t>Measures UDP/TCP/SCTP/ bandwidth, jitter, packet loss</a:t>
            </a:r>
          </a:p>
          <a:p>
            <a:endParaRPr lang="en-GB" b="0" dirty="0"/>
          </a:p>
          <a:p>
            <a:r>
              <a:rPr lang="en-GB" b="0" dirty="0"/>
              <a:t>Cross-platform (</a:t>
            </a:r>
            <a:r>
              <a:rPr lang="en-GB" b="0" dirty="0" err="1"/>
              <a:t>Win,Linux,Mac,Android,iOS</a:t>
            </a:r>
            <a:r>
              <a:rPr lang="en-GB" b="0" dirty="0"/>
              <a:t>)</a:t>
            </a:r>
          </a:p>
          <a:p>
            <a:endParaRPr lang="en-GB" b="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9795C0-F18A-4848-9A70-B58AE16C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Iperf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AF0A7-FD02-7A44-8278-A099A405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30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55596-C676-FF4F-A9C3-A82E80E8B8C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0117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634C33B-DA3F-804E-8B5D-4EDD413A8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024" y="803598"/>
            <a:ext cx="8524455" cy="51133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DA99D74-8061-3F44-9366-57EF3C3E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Iperf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016F6-607B-5446-83A2-ED646CC7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31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32F98-A34D-9B47-A17C-73FB82EB339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76446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576202-8E82-3C43-B18B-43200D1C9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Simple Network Management Protocol</a:t>
            </a:r>
          </a:p>
          <a:p>
            <a:pPr lvl="1"/>
            <a:r>
              <a:rPr lang="en-GB" dirty="0"/>
              <a:t>Application protocol to get information from network devices. A manager retrieves data from </a:t>
            </a:r>
            <a:r>
              <a:rPr lang="en-GB" i="1" dirty="0"/>
              <a:t>agents</a:t>
            </a:r>
            <a:r>
              <a:rPr lang="en-GB" dirty="0"/>
              <a:t> running on the network devices.</a:t>
            </a:r>
          </a:p>
          <a:p>
            <a:pPr lvl="1"/>
            <a:r>
              <a:rPr lang="en-GB" dirty="0"/>
              <a:t>Data is described in a Management Information Bases (MIB) through OID (Object Identifiers)</a:t>
            </a:r>
          </a:p>
          <a:p>
            <a:endParaRPr lang="en-US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BD552-592D-3A48-8BB3-87BA5973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SNMP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B07BA-FDE3-2E45-A041-2910D3EA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32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79C0A-21EA-F045-80E3-E4B569F6C0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4A87BA-1002-514B-872E-800A56F1F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356" y="3570842"/>
            <a:ext cx="4274545" cy="240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227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B119C8-AEC2-EE4E-A1F8-2787C1265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0" dirty="0"/>
              <a:t>GET messages: transmitted from the manager to ask for information from an agent</a:t>
            </a:r>
          </a:p>
          <a:p>
            <a:r>
              <a:rPr lang="en-GB" b="0" dirty="0"/>
              <a:t>SET messages: used to change an agent device configuration</a:t>
            </a:r>
          </a:p>
          <a:p>
            <a:r>
              <a:rPr lang="en-GB" b="0" dirty="0"/>
              <a:t>RESPONSE message: transmitted from agents to reply to a GET/SET message</a:t>
            </a:r>
          </a:p>
          <a:p>
            <a:r>
              <a:rPr lang="en-GB" b="0" dirty="0"/>
              <a:t>TRAP message: proactively sent by agents to a manager when an unexpected event occurs</a:t>
            </a:r>
          </a:p>
          <a:p>
            <a:r>
              <a:rPr lang="en-GB" b="0" dirty="0"/>
              <a:t>INFORM message: similar to TRAP, with ACK.</a:t>
            </a:r>
          </a:p>
          <a:p>
            <a:pPr marL="0" indent="0">
              <a:buNone/>
            </a:pPr>
            <a:r>
              <a:rPr lang="en-GB" b="0" dirty="0"/>
              <a:t>All messages are transported using UDP (port 161 for GET/SET and RESPONSE, 162 for TRAP and INFORM messages)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E74E8E-4728-334D-AD44-F4055272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SNMP messages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8E6A4-8F91-CF41-A4BE-338703DC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33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33CB9-F3DB-3348-B2DF-2E42ADDB15F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81581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C6E652-1B3D-404D-8AA7-C58D820FE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0" dirty="0"/>
              <a:t>An Object </a:t>
            </a:r>
            <a:r>
              <a:rPr lang="en-GB" b="0" dirty="0" err="1"/>
              <a:t>IDentifier</a:t>
            </a:r>
            <a:r>
              <a:rPr lang="en-GB" b="0" dirty="0"/>
              <a:t> (OID) corresponds to a node in the OID tree.</a:t>
            </a:r>
          </a:p>
          <a:p>
            <a:r>
              <a:rPr lang="en-GB" b="0" dirty="0"/>
              <a:t>The root of the tree defines the standard used (0:ITU-T,1:ISO, 2:joint)</a:t>
            </a:r>
          </a:p>
          <a:p>
            <a:r>
              <a:rPr lang="en-GB" b="0" dirty="0"/>
              <a:t>`Dot' notation used to progress into the tree (e.g. 1.3.6.1.2.1.1)</a:t>
            </a:r>
          </a:p>
          <a:p>
            <a:r>
              <a:rPr lang="en-GB" b="0" dirty="0"/>
              <a:t>For SNMP, all OID start with 1.3.6.1.2</a:t>
            </a:r>
          </a:p>
          <a:p>
            <a:r>
              <a:rPr lang="en-GB" b="0" i="1" dirty="0" err="1"/>
              <a:t>snmptranslate</a:t>
            </a:r>
            <a:r>
              <a:rPr lang="en-GB" b="0" dirty="0"/>
              <a:t> translates a numerical OID into a `readable’ information</a:t>
            </a:r>
          </a:p>
          <a:p>
            <a:r>
              <a:rPr lang="en-GB" b="0" i="1" dirty="0" err="1"/>
              <a:t>snmpwalk</a:t>
            </a:r>
            <a:r>
              <a:rPr lang="en-GB" b="0" dirty="0"/>
              <a:t> retrieve a subtree of OID using multiple GET messages</a:t>
            </a:r>
          </a:p>
          <a:p>
            <a:endParaRPr lang="en-US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0C3882-BD05-6743-9864-DE090805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6AD1F-C40D-6144-A31E-207C8F9F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34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1D84F-E5CD-754E-9975-6F5008F95EF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6502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997966-C87F-7545-AEED-B6127930F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dirty="0"/>
              <a:t>Ask system information to a DEIB network printer (131.175.126.65, 3rd floor). OID: 1.3.6.1.2.1.1.1</a:t>
            </a:r>
          </a:p>
          <a:p>
            <a:endParaRPr lang="en-GB" b="0" dirty="0"/>
          </a:p>
          <a:p>
            <a:endParaRPr lang="en-GB" b="0" dirty="0"/>
          </a:p>
          <a:p>
            <a:r>
              <a:rPr lang="en-GB" b="0" dirty="0"/>
              <a:t>Ask number of network interfaces. OID: 1.3.6.1.2.1.2.1</a:t>
            </a:r>
          </a:p>
          <a:p>
            <a:endParaRPr lang="en-GB" b="0" dirty="0"/>
          </a:p>
          <a:p>
            <a:endParaRPr lang="en-GB" b="0" dirty="0"/>
          </a:p>
          <a:p>
            <a:r>
              <a:rPr lang="en-GB" b="0" dirty="0"/>
              <a:t>Ask for total bytes </a:t>
            </a:r>
            <a:r>
              <a:rPr lang="en-GB" b="0" dirty="0" err="1"/>
              <a:t>tx</a:t>
            </a:r>
            <a:r>
              <a:rPr lang="en-GB" b="0" dirty="0"/>
              <a:t> on the first interface: OID: 1.3.6.1.2.1.2.2.1.10.1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FF6EF4-D8DE-E94A-9557-BB593EE4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SNMP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85B60-8ABF-B342-881D-3598AFD0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35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FAB6D-402C-A74E-A3AC-A35FE2A4B5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85E47B-7395-D84A-9ECE-856EA0FF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9" y="1848792"/>
            <a:ext cx="8385290" cy="780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6B8621-DAA4-A54F-8483-2A89A9F4B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2" y="3255294"/>
            <a:ext cx="8581043" cy="4210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803E10-D624-B34C-9103-8704F30CC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12" y="5007599"/>
            <a:ext cx="9144000" cy="42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21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0372FA-38B8-9948-B982-84865B410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Homework #1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334316-84BE-3145-B3CF-AD3B3F292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Active Measurements (4 points)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BEA11-78B3-8943-9F6B-F08F10405F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96300" y="6381750"/>
            <a:ext cx="6477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pPr/>
              <a:t>36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59458-605D-A14B-A2AE-C7DC1D5F92B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992688" y="6381750"/>
            <a:ext cx="4151312" cy="365125"/>
          </a:xfrm>
        </p:spPr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72633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CDF85-3FBD-6D4C-BAB7-B9BB4A26F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dirty="0"/>
              <a:t>You are requested to evaluate the relationship between the (average) RTT and physical distance of two endpoints</a:t>
            </a:r>
          </a:p>
          <a:p>
            <a:endParaRPr lang="en-US" b="0" dirty="0"/>
          </a:p>
          <a:p>
            <a:r>
              <a:rPr lang="en-US" b="0" dirty="0"/>
              <a:t>The first endpoint could be either your laptop (if you use a local python script) or a </a:t>
            </a:r>
            <a:r>
              <a:rPr lang="en-US" b="0" dirty="0" err="1"/>
              <a:t>Colab</a:t>
            </a:r>
            <a:r>
              <a:rPr lang="en-US" b="0" dirty="0"/>
              <a:t> VM</a:t>
            </a:r>
          </a:p>
          <a:p>
            <a:endParaRPr lang="en-US" b="0" dirty="0"/>
          </a:p>
          <a:p>
            <a:r>
              <a:rPr lang="en-US" b="0" dirty="0"/>
              <a:t>The second endpoint should vary and be located at increasing distances from the first endpoint</a:t>
            </a:r>
          </a:p>
          <a:p>
            <a:endParaRPr lang="en-US" b="0" dirty="0"/>
          </a:p>
          <a:p>
            <a:r>
              <a:rPr lang="en-US" b="0" dirty="0"/>
              <a:t>Hint: Ftp mirror servers are a good source of worldwide disseminated hosts. Some examples:</a:t>
            </a:r>
          </a:p>
          <a:p>
            <a:pPr lvl="1"/>
            <a:r>
              <a:rPr lang="en-US" dirty="0">
                <a:hlinkClick r:id="rId2"/>
              </a:rPr>
              <a:t>https://www.gnu.org/prep/ftp.html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https://www.debian.org/mirror/list</a:t>
            </a:r>
            <a:endParaRPr lang="en-US" dirty="0"/>
          </a:p>
          <a:p>
            <a:endParaRPr lang="en-US" b="0" dirty="0"/>
          </a:p>
          <a:p>
            <a:r>
              <a:rPr lang="en-US" b="0" dirty="0"/>
              <a:t>Hint: create a csv file of all the servers you want to ping and load it into your notebook (many tutorials are available)</a:t>
            </a:r>
          </a:p>
          <a:p>
            <a:pPr lvl="1"/>
            <a:endParaRPr lang="en-US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3E5739-240C-184C-8567-4239394B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</p:spTree>
    <p:extLst>
      <p:ext uri="{BB962C8B-B14F-4D97-AF65-F5344CB8AC3E}">
        <p14:creationId xmlns:p14="http://schemas.microsoft.com/office/powerpoint/2010/main" val="1064245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9806EB-87D2-0049-9DE8-B6503C271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Use your preferred approach to estimate the average RTT</a:t>
            </a:r>
          </a:p>
          <a:p>
            <a:endParaRPr lang="en-US" b="0" dirty="0"/>
          </a:p>
          <a:p>
            <a:r>
              <a:rPr lang="en-US" b="0" dirty="0"/>
              <a:t>You can use (among others) the </a:t>
            </a:r>
            <a:r>
              <a:rPr lang="en-US" b="0" dirty="0" err="1"/>
              <a:t>geopy.distance.distance</a:t>
            </a:r>
            <a:r>
              <a:rPr lang="en-US" b="0" dirty="0"/>
              <a:t>() function of the </a:t>
            </a:r>
            <a:r>
              <a:rPr lang="en-US" b="0" dirty="0" err="1"/>
              <a:t>geopy</a:t>
            </a:r>
            <a:r>
              <a:rPr lang="en-US" b="0" dirty="0"/>
              <a:t> library to get the distance in km between any two pairs of (</a:t>
            </a:r>
            <a:r>
              <a:rPr lang="en-US" b="0" dirty="0" err="1"/>
              <a:t>lat.long</a:t>
            </a:r>
            <a:r>
              <a:rPr lang="en-US" b="0" dirty="0"/>
              <a:t>) coordinates</a:t>
            </a:r>
          </a:p>
          <a:p>
            <a:endParaRPr lang="en-US" b="0" dirty="0"/>
          </a:p>
          <a:p>
            <a:r>
              <a:rPr lang="en-US" b="0" dirty="0"/>
              <a:t>Gather a sufficiently diverse set of measurements, including both RTT at very short and very long distances</a:t>
            </a:r>
          </a:p>
          <a:p>
            <a:endParaRPr lang="en-US" b="0" dirty="0"/>
          </a:p>
          <a:p>
            <a:r>
              <a:rPr lang="en-US" b="0" dirty="0"/>
              <a:t>Plot the obtained measurements on a distance/RTT graph</a:t>
            </a:r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E214-9778-E448-BCED-31813C99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(0-3 points)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3EB2E-A5D5-FC41-AA7C-52126893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38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0C7F-DD82-E641-82E4-B6294016B9C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1137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B77DCC-0E6D-2E40-848F-C6EE2844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 basic approximation for the RTT is a linear function of the physical distance:</a:t>
            </a:r>
          </a:p>
          <a:p>
            <a:endParaRPr lang="en-US" b="0" dirty="0"/>
          </a:p>
          <a:p>
            <a:pPr marL="363538" lvl="1" indent="0">
              <a:buNone/>
            </a:pPr>
            <a:r>
              <a:rPr lang="en-US" b="0" dirty="0"/>
              <a:t>						RTT = 2(L/C + d/v) + n</a:t>
            </a:r>
          </a:p>
          <a:p>
            <a:pPr marL="0" indent="0">
              <a:buNone/>
            </a:pPr>
            <a:endParaRPr lang="en-US" b="0" dirty="0"/>
          </a:p>
          <a:p>
            <a:r>
              <a:rPr lang="en-US" b="0" dirty="0"/>
              <a:t>Estimate the average RTT per km by fitting a linear function on your set of measurement. Comment your result.</a:t>
            </a:r>
          </a:p>
          <a:p>
            <a:endParaRPr lang="en-US" b="0" dirty="0"/>
          </a:p>
          <a:p>
            <a:r>
              <a:rPr lang="en-US" b="0" dirty="0"/>
              <a:t>Plot the fitted line over the set of measurements</a:t>
            </a:r>
          </a:p>
          <a:p>
            <a:endParaRPr lang="en-US" b="0" dirty="0"/>
          </a:p>
          <a:p>
            <a:r>
              <a:rPr lang="en-US" b="0" dirty="0"/>
              <a:t>Hint: take a look at </a:t>
            </a:r>
            <a:r>
              <a:rPr lang="en-US" b="0" dirty="0" err="1"/>
              <a:t>numpy.polyfit</a:t>
            </a:r>
            <a:r>
              <a:rPr lang="en-US" b="0" dirty="0"/>
              <a:t> function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DB6C27-F073-3D4E-AFF1-344D41374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(4</a:t>
            </a:r>
            <a:r>
              <a:rPr lang="en-US" baseline="30000" dirty="0"/>
              <a:t>th</a:t>
            </a:r>
            <a:r>
              <a:rPr lang="en-US" dirty="0"/>
              <a:t> point)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9F798-AC47-6142-B5B0-C59B6B279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39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17293-A9EA-9D41-AFB5-E06A1A2C245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6224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686794-E347-B24A-8892-4F3A75693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The following aspects will be considered for evaluation</a:t>
            </a:r>
          </a:p>
          <a:p>
            <a:pPr lvl="1"/>
            <a:r>
              <a:rPr lang="en-US" dirty="0"/>
              <a:t>Technical correctness and completeness</a:t>
            </a:r>
          </a:p>
          <a:p>
            <a:pPr lvl="1"/>
            <a:r>
              <a:rPr lang="en-US" b="0" dirty="0"/>
              <a:t>Coding style, level of automation,</a:t>
            </a:r>
            <a:r>
              <a:rPr lang="en-US" dirty="0"/>
              <a:t> easiness of interpretation (use comments to explain what you are doing)</a:t>
            </a:r>
          </a:p>
          <a:p>
            <a:pPr lvl="1"/>
            <a:r>
              <a:rPr lang="en-US" b="0" dirty="0"/>
              <a:t>Presentation of results (with print(), figures, etc</a:t>
            </a:r>
            <a:r>
              <a:rPr lang="en-US" dirty="0"/>
              <a:t>.)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06C8F5-86CA-5F41-BFE7-A8B7FD71A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CD943-370D-EB4E-BC8E-B0B1F908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40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A9031-813F-F743-AA2C-6CEDE45CF6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505664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FEB5BF-7417-994C-89CE-5571B8163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This homework must be delivered by Thu, March 12</a:t>
            </a:r>
            <a:r>
              <a:rPr lang="en-US" b="0" baseline="30000" dirty="0"/>
              <a:t>th</a:t>
            </a:r>
            <a:r>
              <a:rPr lang="en-US" b="0" dirty="0"/>
              <a:t>, 23:59</a:t>
            </a:r>
          </a:p>
          <a:p>
            <a:endParaRPr lang="en-US" b="0" dirty="0"/>
          </a:p>
          <a:p>
            <a:r>
              <a:rPr lang="en-US" b="0" dirty="0"/>
              <a:t>Export your code (entire script, notebook or </a:t>
            </a:r>
            <a:r>
              <a:rPr lang="en-US" b="0" dirty="0" err="1"/>
              <a:t>colab</a:t>
            </a:r>
            <a:r>
              <a:rPr lang="en-US" b="0" dirty="0"/>
              <a:t> link) with any additional resource needed (e.g., csv file) and upload it on the specific folder on </a:t>
            </a:r>
            <a:r>
              <a:rPr lang="en-US" b="0" dirty="0" err="1"/>
              <a:t>WeBeep</a:t>
            </a:r>
            <a:r>
              <a:rPr lang="en-US" b="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042449-0339-B947-8757-39C0DA25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326C7-8008-354A-829D-870FF275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41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E20BC-4EC1-8045-866C-BD2EB0884DC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it-IT"/>
              <a:t>Network Measurement Lab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5901546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</Template>
  <TotalTime>14318</TotalTime>
  <Words>2238</Words>
  <Application>Microsoft Macintosh PowerPoint</Application>
  <PresentationFormat>Presentazione su schermo (4:3)</PresentationFormat>
  <Paragraphs>344</Paragraphs>
  <Slides>41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7" baseType="lpstr">
      <vt:lpstr>Arial</vt:lpstr>
      <vt:lpstr>Calibri</vt:lpstr>
      <vt:lpstr>Courier New</vt:lpstr>
      <vt:lpstr>Times New Roman</vt:lpstr>
      <vt:lpstr>Wingdings</vt:lpstr>
      <vt:lpstr>POLI</vt:lpstr>
      <vt:lpstr>Presentazione standard di PowerPoint</vt:lpstr>
      <vt:lpstr>Presentazione standard di PowerPoint</vt:lpstr>
      <vt:lpstr>Presentazione standard di PowerPoint</vt:lpstr>
      <vt:lpstr>Teacher</vt:lpstr>
      <vt:lpstr>Course organization</vt:lpstr>
      <vt:lpstr>Evaluation</vt:lpstr>
      <vt:lpstr>Goal of this module</vt:lpstr>
      <vt:lpstr>What is the Internet</vt:lpstr>
      <vt:lpstr>What is the Internet</vt:lpstr>
      <vt:lpstr>Internet Protocols</vt:lpstr>
      <vt:lpstr>IP Packet header</vt:lpstr>
      <vt:lpstr>Transport protocols</vt:lpstr>
      <vt:lpstr>Presentazione standard di PowerPoint</vt:lpstr>
      <vt:lpstr>Why measuring?</vt:lpstr>
      <vt:lpstr>Why measuring a network</vt:lpstr>
      <vt:lpstr>Classification of network measurements</vt:lpstr>
      <vt:lpstr>Active VS Passive measurements</vt:lpstr>
      <vt:lpstr>Active VS Passive measurements</vt:lpstr>
      <vt:lpstr>Physical vs Upper layers</vt:lpstr>
      <vt:lpstr>Packet-level VS Flow-level</vt:lpstr>
      <vt:lpstr>Packet-level VS Flow-level</vt:lpstr>
      <vt:lpstr>Single-point vs multi-point</vt:lpstr>
      <vt:lpstr>Network vs Application measurements</vt:lpstr>
      <vt:lpstr>Presentazione standard di PowerPoint</vt:lpstr>
      <vt:lpstr>Active measurements</vt:lpstr>
      <vt:lpstr>PING</vt:lpstr>
      <vt:lpstr>Traceroute</vt:lpstr>
      <vt:lpstr>Traceroute</vt:lpstr>
      <vt:lpstr>Playing around with ICMP and Colab</vt:lpstr>
      <vt:lpstr>Iperf</vt:lpstr>
      <vt:lpstr>Iperf</vt:lpstr>
      <vt:lpstr>SNMP</vt:lpstr>
      <vt:lpstr>SNMP messages</vt:lpstr>
      <vt:lpstr>OID</vt:lpstr>
      <vt:lpstr>SNMP examples</vt:lpstr>
      <vt:lpstr>Presentazione standard di PowerPoint</vt:lpstr>
      <vt:lpstr>Assignments</vt:lpstr>
      <vt:lpstr>Assignments (0-3 points)</vt:lpstr>
      <vt:lpstr>Assignments (4th point)</vt:lpstr>
      <vt:lpstr>Evaluation</vt:lpstr>
      <vt:lpstr>Deadlines</vt:lpstr>
    </vt:vector>
  </TitlesOfParts>
  <Company>Area Servizi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Colleoni</dc:creator>
  <cp:lastModifiedBy>Alessandro Enrico Cesare Redondi</cp:lastModifiedBy>
  <cp:revision>519</cp:revision>
  <cp:lastPrinted>2017-03-02T16:55:46Z</cp:lastPrinted>
  <dcterms:created xsi:type="dcterms:W3CDTF">2015-05-26T12:27:57Z</dcterms:created>
  <dcterms:modified xsi:type="dcterms:W3CDTF">2026-02-25T13:58:05Z</dcterms:modified>
</cp:coreProperties>
</file>